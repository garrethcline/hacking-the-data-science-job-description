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p:spPr>
        <p:txBody>
          <a:bodyPr rtlCol="0" anchor="ctr"/>
          <a:lstStyle/>
          <a:p/>
        </p:txBody>
      </p:sp>
      <p:sp>
        <p:nvSpPr>
          <p:cNvPr id="3" name="Rectangle 2"/>
          <p:cNvSpPr/>
          <p:nvPr/>
        </p:nvSpPr>
        <p:spPr>
          <a:xfrm>
            <a:off x="731520" y="3246120"/>
            <a:ext cx="1097280" cy="54864"/>
          </a:xfrm>
          <a:prstGeom prst="rect">
            <a:avLst/>
          </a:prstGeom>
          <a:solidFill>
            <a:srgbClr val="BF9000"/>
          </a:solidFill>
          <a:ln>
            <a:noFill/>
          </a:ln>
        </p:spPr>
        <p:txBody>
          <a:bodyPr rtlCol="0" anchor="ctr"/>
          <a:lstStyle/>
          <a:p/>
        </p:txBody>
      </p:sp>
      <p:sp>
        <p:nvSpPr>
          <p:cNvPr id="4" name="TextBox 3"/>
          <p:cNvSpPr txBox="1"/>
          <p:nvPr/>
        </p:nvSpPr>
        <p:spPr>
          <a:xfrm>
            <a:off x="731520" y="1097280"/>
            <a:ext cx="10698480" cy="2057400"/>
          </a:xfrm>
          <a:prstGeom prst="rect">
            <a:avLst/>
          </a:prstGeom>
          <a:noFill/>
        </p:spPr>
        <p:txBody>
          <a:bodyPr wrap="square" lIns="18288" rIns="18288" tIns="18288" bIns="18288" anchor="b">
            <a:spAutoFit/>
          </a:bodyPr>
          <a:lstStyle/>
          <a:p>
            <a:pPr algn="l">
              <a:lnSpc>
                <a:spcPct val="110000"/>
              </a:lnSpc>
              <a:spcAft>
                <a:spcPts val="0"/>
              </a:spcAft>
            </a:pPr>
            <a:r>
              <a:rPr sz="4000" b="1" i="0">
                <a:solidFill>
                  <a:srgbClr val="FFFFFF"/>
                </a:solidFill>
                <a:latin typeface="Calibri"/>
              </a:rPr>
              <a:t>Hacking the Data Science</a:t>
            </a:r>
          </a:p>
          <a:p>
            <a:pPr algn="l">
              <a:lnSpc>
                <a:spcPct val="110000"/>
              </a:lnSpc>
              <a:spcAft>
                <a:spcPts val="0"/>
              </a:spcAft>
            </a:pPr>
            <a:r>
              <a:rPr sz="4000" b="1" i="0">
                <a:solidFill>
                  <a:srgbClr val="FFFFFF"/>
                </a:solidFill>
                <a:latin typeface="Calibri"/>
              </a:rPr>
              <a:t>Job Description</a:t>
            </a:r>
          </a:p>
        </p:txBody>
      </p:sp>
      <p:sp>
        <p:nvSpPr>
          <p:cNvPr id="5" name="TextBox 4"/>
          <p:cNvSpPr txBox="1"/>
          <p:nvPr/>
        </p:nvSpPr>
        <p:spPr>
          <a:xfrm>
            <a:off x="731520" y="3474720"/>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0" i="0">
                <a:solidFill>
                  <a:srgbClr val="FFFFFF"/>
                </a:solidFill>
                <a:latin typeface="Calibri"/>
              </a:rPr>
              <a:t>Metis Data Science Bootcamp, Project 5, March 2021</a:t>
            </a:r>
          </a:p>
        </p:txBody>
      </p:sp>
      <p:sp>
        <p:nvSpPr>
          <p:cNvPr id="6" name="TextBox 5"/>
          <p:cNvSpPr txBox="1"/>
          <p:nvPr/>
        </p:nvSpPr>
        <p:spPr>
          <a:xfrm>
            <a:off x="731520" y="3977639"/>
            <a:ext cx="10698480" cy="457200"/>
          </a:xfrm>
          <a:prstGeom prst="rect">
            <a:avLst/>
          </a:prstGeom>
          <a:noFill/>
        </p:spPr>
        <p:txBody>
          <a:bodyPr wrap="square" lIns="18288" rIns="18288" tIns="18288" bIns="18288" anchor="t">
            <a:spAutoFit/>
          </a:bodyPr>
          <a:lstStyle/>
          <a:p>
            <a:pPr algn="l">
              <a:lnSpc>
                <a:spcPct val="110000"/>
              </a:lnSpc>
              <a:spcAft>
                <a:spcPts val="0"/>
              </a:spcAft>
            </a:pPr>
            <a:r>
              <a:rPr sz="2000" b="1" i="0">
                <a:solidFill>
                  <a:srgbClr val="FFFFFF"/>
                </a:solidFill>
                <a:latin typeface="Calibri"/>
              </a:rPr>
              <a:t>Garreth Cline</a:t>
            </a:r>
          </a:p>
        </p:txBody>
      </p:sp>
      <p:sp>
        <p:nvSpPr>
          <p:cNvPr id="7" name="TextBox 6"/>
          <p:cNvSpPr txBox="1"/>
          <p:nvPr/>
        </p:nvSpPr>
        <p:spPr>
          <a:xfrm>
            <a:off x="731520" y="5440680"/>
            <a:ext cx="10698480" cy="822960"/>
          </a:xfrm>
          <a:prstGeom prst="rect">
            <a:avLst/>
          </a:prstGeom>
          <a:noFill/>
        </p:spPr>
        <p:txBody>
          <a:bodyPr wrap="square" lIns="18288" rIns="18288" tIns="18288" bIns="18288" anchor="t">
            <a:spAutoFit/>
          </a:bodyPr>
          <a:lstStyle/>
          <a:p>
            <a:pPr algn="l">
              <a:lnSpc>
                <a:spcPct val="110000"/>
              </a:lnSpc>
              <a:spcAft>
                <a:spcPts val="300"/>
              </a:spcAft>
            </a:pPr>
            <a:r>
              <a:rPr sz="1300" b="0" i="0">
                <a:solidFill>
                  <a:srgbClr val="C8D0E0"/>
                </a:solidFill>
                <a:latin typeface="Calibri"/>
              </a:rPr>
              <a:t>Slides remade in October 2026 with AI help. Every result comes from the original 2021 notebook.</a:t>
            </a:r>
          </a:p>
          <a:p>
            <a:pPr algn="l">
              <a:lnSpc>
                <a:spcPct val="110000"/>
              </a:lnSpc>
              <a:spcAft>
                <a:spcPts val="300"/>
              </a:spcAft>
            </a:pPr>
            <a:r>
              <a:rPr sz="1300" b="0" i="0">
                <a:solidFill>
                  <a:srgbClr val="C8D0E0"/>
                </a:solidFill>
                <a:latin typeface="Calibri"/>
              </a:rPr>
              <a:t>Code and notebook: github.com/garrethcline/Hacking-the-Data-Science-Job-Description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goal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2</a:t>
            </a:r>
          </a:p>
        </p:txBody>
      </p:sp>
      <p:sp>
        <p:nvSpPr>
          <p:cNvPr id="6" name="TextBox 5"/>
          <p:cNvSpPr txBox="1"/>
          <p:nvPr/>
        </p:nvSpPr>
        <p:spPr>
          <a:xfrm>
            <a:off x="548640" y="1463040"/>
            <a:ext cx="6309360" cy="914400"/>
          </a:xfrm>
          <a:prstGeom prst="rect">
            <a:avLst/>
          </a:prstGeom>
          <a:noFill/>
        </p:spPr>
        <p:txBody>
          <a:bodyPr wrap="square" lIns="18288" rIns="18288" tIns="18288" bIns="18288" anchor="t">
            <a:spAutoFit/>
          </a:bodyPr>
          <a:lstStyle/>
          <a:p>
            <a:pPr algn="l">
              <a:lnSpc>
                <a:spcPct val="110000"/>
              </a:lnSpc>
              <a:spcAft>
                <a:spcPts val="0"/>
              </a:spcAft>
            </a:pPr>
            <a:r>
              <a:rPr sz="2200" b="1" i="0">
                <a:solidFill>
                  <a:srgbClr val="1F3864"/>
                </a:solidFill>
                <a:latin typeface="Calibri"/>
              </a:rPr>
              <a:t>Use job postings to show job seekers which skills data jobs ask for and how the job titles differ.</a:t>
            </a:r>
          </a:p>
        </p:txBody>
      </p:sp>
      <p:sp>
        <p:nvSpPr>
          <p:cNvPr id="7" name="TextBox 6"/>
          <p:cNvSpPr txBox="1"/>
          <p:nvPr/>
        </p:nvSpPr>
        <p:spPr>
          <a:xfrm>
            <a:off x="548640" y="2514600"/>
            <a:ext cx="6309360" cy="3566160"/>
          </a:xfrm>
          <a:prstGeom prst="rect">
            <a:avLst/>
          </a:prstGeom>
          <a:noFill/>
        </p:spPr>
        <p:txBody>
          <a:bodyPr wrap="square" lIns="18288" rIns="18288" tIns="18288" bIns="18288">
            <a:spAutoFit/>
          </a:bodyPr>
          <a:lstStyle/>
          <a:p>
            <a:pPr marL="256032" indent="-256032">
              <a:lnSpc>
                <a:spcPct val="108000"/>
              </a:lnSpc>
              <a:spcAft>
                <a:spcPts val="1200"/>
              </a:spcAft>
              <a:buChar char="•"/>
            </a:pPr>
            <a:r>
              <a:rPr sz="1800" b="0" i="0">
                <a:solidFill>
                  <a:srgbClr val="222222"/>
                </a:solidFill>
                <a:latin typeface="Calibri"/>
              </a:rPr>
              <a:t>The supervised part predicts a posting’s job title from its description, then looks at the words the model relies on for each title.</a:t>
            </a:r>
          </a:p>
          <a:p>
            <a:pPr marL="256032" indent="-256032">
              <a:lnSpc>
                <a:spcPct val="108000"/>
              </a:lnSpc>
              <a:spcAft>
                <a:spcPts val="1200"/>
              </a:spcAft>
              <a:buChar char="•"/>
            </a:pPr>
            <a:r>
              <a:rPr sz="1800" b="0" i="0">
                <a:solidFill>
                  <a:srgbClr val="222222"/>
                </a:solidFill>
                <a:latin typeface="Calibri"/>
              </a:rPr>
              <a:t>The unsupervised part uses topic modeling and clustering to see what groups the postings fall into.</a:t>
            </a:r>
          </a:p>
        </p:txBody>
      </p:sp>
      <p:sp>
        <p:nvSpPr>
          <p:cNvPr id="8" name="Rectangle 7"/>
          <p:cNvSpPr/>
          <p:nvPr/>
        </p:nvSpPr>
        <p:spPr>
          <a:xfrm>
            <a:off x="7315200" y="1508760"/>
            <a:ext cx="4343400" cy="2240280"/>
          </a:xfrm>
          <a:prstGeom prst="rect">
            <a:avLst/>
          </a:prstGeom>
          <a:solidFill>
            <a:srgbClr val="F1F4F9"/>
          </a:solidFill>
          <a:ln>
            <a:noFill/>
          </a:ln>
        </p:spPr>
        <p:txBody>
          <a:bodyPr rtlCol="0" anchor="ctr"/>
          <a:lstStyle/>
          <a:p/>
        </p:txBody>
      </p:sp>
      <p:sp>
        <p:nvSpPr>
          <p:cNvPr id="9" name="TextBox 8"/>
          <p:cNvSpPr txBox="1"/>
          <p:nvPr/>
        </p:nvSpPr>
        <p:spPr>
          <a:xfrm>
            <a:off x="7543800" y="1691640"/>
            <a:ext cx="3931920" cy="2011680"/>
          </a:xfrm>
          <a:prstGeom prst="rect">
            <a:avLst/>
          </a:prstGeom>
          <a:noFill/>
        </p:spPr>
        <p:txBody>
          <a:bodyPr wrap="square" lIns="18288" rIns="18288" tIns="18288" bIns="18288" anchor="t">
            <a:spAutoFit/>
          </a:bodyPr>
          <a:lstStyle/>
          <a:p>
            <a:pPr algn="l">
              <a:lnSpc>
                <a:spcPct val="110000"/>
              </a:lnSpc>
              <a:spcAft>
                <a:spcPts val="800"/>
              </a:spcAft>
            </a:pPr>
            <a:r>
              <a:rPr sz="1700" b="1" i="0">
                <a:solidFill>
                  <a:srgbClr val="1F3864"/>
                </a:solidFill>
                <a:latin typeface="Calibri"/>
              </a:rPr>
              <a:t>Tools</a:t>
            </a:r>
          </a:p>
          <a:p>
            <a:pPr algn="l">
              <a:lnSpc>
                <a:spcPct val="110000"/>
              </a:lnSpc>
              <a:spcAft>
                <a:spcPts val="600"/>
              </a:spcAft>
            </a:pPr>
            <a:r>
              <a:rPr sz="1600" b="0" i="0">
                <a:solidFill>
                  <a:srgbClr val="222222"/>
                </a:solidFill>
                <a:latin typeface="Calibri"/>
              </a:rPr>
              <a:t>Python, pandas and NLTK for cleaning</a:t>
            </a:r>
          </a:p>
          <a:p>
            <a:pPr algn="l">
              <a:lnSpc>
                <a:spcPct val="110000"/>
              </a:lnSpc>
              <a:spcAft>
                <a:spcPts val="600"/>
              </a:spcAft>
            </a:pPr>
            <a:r>
              <a:rPr sz="1600" b="0" i="0">
                <a:solidFill>
                  <a:srgbClr val="222222"/>
                </a:solidFill>
                <a:latin typeface="Calibri"/>
              </a:rPr>
              <a:t>scikit-learn: TF-IDF, LinearSVC, grid search</a:t>
            </a:r>
          </a:p>
          <a:p>
            <a:pPr algn="l">
              <a:lnSpc>
                <a:spcPct val="110000"/>
              </a:lnSpc>
              <a:spcAft>
                <a:spcPts val="600"/>
              </a:spcAft>
            </a:pPr>
            <a:r>
              <a:rPr sz="1600" b="0" i="0">
                <a:solidFill>
                  <a:srgbClr val="222222"/>
                </a:solidFill>
                <a:latin typeface="Calibri"/>
              </a:rPr>
              <a:t>NMF topic model, MiniBatchKMeans</a:t>
            </a:r>
          </a:p>
          <a:p>
            <a:pPr algn="l">
              <a:lnSpc>
                <a:spcPct val="110000"/>
              </a:lnSpc>
              <a:spcAft>
                <a:spcPts val="0"/>
              </a:spcAft>
            </a:pPr>
            <a:r>
              <a:rPr sz="1600" b="0" i="0">
                <a:solidFill>
                  <a:srgbClr val="222222"/>
                </a:solidFill>
                <a:latin typeface="Calibri"/>
              </a:rPr>
              <a:t>PCA and t-SNE for the cluster plots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data</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Data job postings scraped from Indeed.com in seven batches</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3</a:t>
            </a:r>
          </a:p>
        </p:txBody>
      </p:sp>
      <p:sp>
        <p:nvSpPr>
          <p:cNvPr id="7" name="Rectangle 6"/>
          <p:cNvSpPr/>
          <p:nvPr/>
        </p:nvSpPr>
        <p:spPr>
          <a:xfrm>
            <a:off x="576072" y="1783080"/>
            <a:ext cx="2468880" cy="1234440"/>
          </a:xfrm>
          <a:prstGeom prst="rect">
            <a:avLst/>
          </a:prstGeom>
          <a:solidFill>
            <a:srgbClr val="F1F4F9"/>
          </a:solidFill>
          <a:ln>
            <a:noFill/>
          </a:ln>
        </p:spPr>
        <p:txBody>
          <a:bodyPr rtlCol="0" anchor="ctr"/>
          <a:lstStyle/>
          <a:p/>
        </p:txBody>
      </p:sp>
      <p:sp>
        <p:nvSpPr>
          <p:cNvPr id="8" name="TextBox 7"/>
          <p:cNvSpPr txBox="1"/>
          <p:nvPr/>
        </p:nvSpPr>
        <p:spPr>
          <a:xfrm>
            <a:off x="758952"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39,209</a:t>
            </a:r>
          </a:p>
        </p:txBody>
      </p:sp>
      <p:sp>
        <p:nvSpPr>
          <p:cNvPr id="9" name="TextBox 8"/>
          <p:cNvSpPr txBox="1"/>
          <p:nvPr/>
        </p:nvSpPr>
        <p:spPr>
          <a:xfrm>
            <a:off x="758952"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postings</a:t>
            </a:r>
          </a:p>
        </p:txBody>
      </p:sp>
      <p:sp>
        <p:nvSpPr>
          <p:cNvPr id="10" name="TextBox 9"/>
          <p:cNvSpPr txBox="1"/>
          <p:nvPr/>
        </p:nvSpPr>
        <p:spPr>
          <a:xfrm>
            <a:off x="3044952"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1" name="Rectangle 10"/>
          <p:cNvSpPr/>
          <p:nvPr/>
        </p:nvSpPr>
        <p:spPr>
          <a:xfrm>
            <a:off x="3429000" y="1783080"/>
            <a:ext cx="2468880" cy="1234440"/>
          </a:xfrm>
          <a:prstGeom prst="rect">
            <a:avLst/>
          </a:prstGeom>
          <a:solidFill>
            <a:srgbClr val="F1F4F9"/>
          </a:solidFill>
          <a:ln>
            <a:noFill/>
          </a:ln>
        </p:spPr>
        <p:txBody>
          <a:bodyPr rtlCol="0" anchor="ctr"/>
          <a:lstStyle/>
          <a:p/>
        </p:txBody>
      </p:sp>
      <p:sp>
        <p:nvSpPr>
          <p:cNvPr id="12" name="TextBox 11"/>
          <p:cNvSpPr txBox="1"/>
          <p:nvPr/>
        </p:nvSpPr>
        <p:spPr>
          <a:xfrm>
            <a:off x="3611880"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11,817</a:t>
            </a:r>
          </a:p>
        </p:txBody>
      </p:sp>
      <p:sp>
        <p:nvSpPr>
          <p:cNvPr id="13" name="TextBox 12"/>
          <p:cNvSpPr txBox="1"/>
          <p:nvPr/>
        </p:nvSpPr>
        <p:spPr>
          <a:xfrm>
            <a:off x="3611880"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different titles</a:t>
            </a:r>
          </a:p>
        </p:txBody>
      </p:sp>
      <p:sp>
        <p:nvSpPr>
          <p:cNvPr id="14" name="TextBox 13"/>
          <p:cNvSpPr txBox="1"/>
          <p:nvPr/>
        </p:nvSpPr>
        <p:spPr>
          <a:xfrm>
            <a:off x="5897880"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5" name="Rectangle 14"/>
          <p:cNvSpPr/>
          <p:nvPr/>
        </p:nvSpPr>
        <p:spPr>
          <a:xfrm>
            <a:off x="6281928" y="1783080"/>
            <a:ext cx="2468880" cy="1234440"/>
          </a:xfrm>
          <a:prstGeom prst="rect">
            <a:avLst/>
          </a:prstGeom>
          <a:solidFill>
            <a:srgbClr val="F1F4F9"/>
          </a:solidFill>
          <a:ln>
            <a:noFill/>
          </a:ln>
        </p:spPr>
        <p:txBody>
          <a:bodyPr rtlCol="0" anchor="ctr"/>
          <a:lstStyle/>
          <a:p/>
        </p:txBody>
      </p:sp>
      <p:sp>
        <p:nvSpPr>
          <p:cNvPr id="16" name="TextBox 15"/>
          <p:cNvSpPr txBox="1"/>
          <p:nvPr/>
        </p:nvSpPr>
        <p:spPr>
          <a:xfrm>
            <a:off x="6464808"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150</a:t>
            </a:r>
          </a:p>
        </p:txBody>
      </p:sp>
      <p:sp>
        <p:nvSpPr>
          <p:cNvPr id="17" name="TextBox 16"/>
          <p:cNvSpPr txBox="1"/>
          <p:nvPr/>
        </p:nvSpPr>
        <p:spPr>
          <a:xfrm>
            <a:off x="6464808"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titles kept as labels</a:t>
            </a:r>
          </a:p>
        </p:txBody>
      </p:sp>
      <p:sp>
        <p:nvSpPr>
          <p:cNvPr id="18" name="TextBox 17"/>
          <p:cNvSpPr txBox="1"/>
          <p:nvPr/>
        </p:nvSpPr>
        <p:spPr>
          <a:xfrm>
            <a:off x="8750808" y="2103120"/>
            <a:ext cx="384048" cy="548640"/>
          </a:xfrm>
          <a:prstGeom prst="rect">
            <a:avLst/>
          </a:prstGeom>
          <a:noFill/>
        </p:spPr>
        <p:txBody>
          <a:bodyPr wrap="square" lIns="18288" rIns="18288" tIns="18288" bIns="18288" anchor="t">
            <a:spAutoFit/>
          </a:bodyPr>
          <a:lstStyle/>
          <a:p>
            <a:pPr algn="ctr">
              <a:lnSpc>
                <a:spcPct val="110000"/>
              </a:lnSpc>
              <a:spcAft>
                <a:spcPts val="0"/>
              </a:spcAft>
            </a:pPr>
            <a:r>
              <a:rPr sz="2400" b="0" i="0">
                <a:solidFill>
                  <a:srgbClr val="5F636B"/>
                </a:solidFill>
                <a:latin typeface="Calibri"/>
              </a:rPr>
              <a:t>→</a:t>
            </a:r>
          </a:p>
        </p:txBody>
      </p:sp>
      <p:sp>
        <p:nvSpPr>
          <p:cNvPr id="19" name="Rectangle 18"/>
          <p:cNvSpPr/>
          <p:nvPr/>
        </p:nvSpPr>
        <p:spPr>
          <a:xfrm>
            <a:off x="9134856" y="1783080"/>
            <a:ext cx="2468880" cy="1234440"/>
          </a:xfrm>
          <a:prstGeom prst="rect">
            <a:avLst/>
          </a:prstGeom>
          <a:solidFill>
            <a:srgbClr val="F1F4F9"/>
          </a:solidFill>
          <a:ln>
            <a:noFill/>
          </a:ln>
        </p:spPr>
        <p:txBody>
          <a:bodyPr rtlCol="0" anchor="ctr"/>
          <a:lstStyle/>
          <a:p/>
        </p:txBody>
      </p:sp>
      <p:sp>
        <p:nvSpPr>
          <p:cNvPr id="20" name="TextBox 19"/>
          <p:cNvSpPr txBox="1"/>
          <p:nvPr/>
        </p:nvSpPr>
        <p:spPr>
          <a:xfrm>
            <a:off x="9317736" y="1892807"/>
            <a:ext cx="2103120" cy="685800"/>
          </a:xfrm>
          <a:prstGeom prst="rect">
            <a:avLst/>
          </a:prstGeom>
          <a:noFill/>
        </p:spPr>
        <p:txBody>
          <a:bodyPr wrap="square" lIns="18288" rIns="18288" tIns="18288" bIns="18288" anchor="t">
            <a:spAutoFit/>
          </a:bodyPr>
          <a:lstStyle/>
          <a:p>
            <a:pPr algn="l">
              <a:lnSpc>
                <a:spcPct val="110000"/>
              </a:lnSpc>
              <a:spcAft>
                <a:spcPts val="0"/>
              </a:spcAft>
            </a:pPr>
            <a:r>
              <a:rPr sz="3200" b="1" i="0">
                <a:solidFill>
                  <a:srgbClr val="1F3864"/>
                </a:solidFill>
                <a:latin typeface="Calibri"/>
              </a:rPr>
              <a:t>19,691</a:t>
            </a:r>
          </a:p>
        </p:txBody>
      </p:sp>
      <p:sp>
        <p:nvSpPr>
          <p:cNvPr id="21" name="TextBox 20"/>
          <p:cNvSpPr txBox="1"/>
          <p:nvPr/>
        </p:nvSpPr>
        <p:spPr>
          <a:xfrm>
            <a:off x="9317736" y="2587752"/>
            <a:ext cx="210312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with a top-150 title</a:t>
            </a:r>
          </a:p>
        </p:txBody>
      </p:sp>
      <p:sp>
        <p:nvSpPr>
          <p:cNvPr id="22" name="TextBox 21"/>
          <p:cNvSpPr txBox="1"/>
          <p:nvPr/>
        </p:nvSpPr>
        <p:spPr>
          <a:xfrm>
            <a:off x="54864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titles</a:t>
            </a:r>
          </a:p>
        </p:txBody>
      </p:sp>
      <p:sp>
        <p:nvSpPr>
          <p:cNvPr id="23" name="TextBox 22"/>
          <p:cNvSpPr txBox="1"/>
          <p:nvPr/>
        </p:nvSpPr>
        <p:spPr>
          <a:xfrm>
            <a:off x="548640" y="3703320"/>
            <a:ext cx="5303520" cy="146304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Lowercased, removed standalone punctuation, reduced words to their base form</a:t>
            </a:r>
          </a:p>
          <a:p>
            <a:pPr marL="256032" indent="-256032">
              <a:lnSpc>
                <a:spcPct val="108000"/>
              </a:lnSpc>
              <a:spcAft>
                <a:spcPts val="600"/>
              </a:spcAft>
              <a:buChar char="•"/>
            </a:pPr>
            <a:r>
              <a:rPr sz="1600" b="0" i="0">
                <a:solidFill>
                  <a:srgbClr val="222222"/>
                </a:solidFill>
                <a:latin typeface="Calibri"/>
              </a:rPr>
              <a:t>Removed filler words such as senior, lead, remote and state names, then joined the rest into one label</a:t>
            </a:r>
          </a:p>
        </p:txBody>
      </p:sp>
      <p:sp>
        <p:nvSpPr>
          <p:cNvPr id="24" name="Rectangle 23"/>
          <p:cNvSpPr/>
          <p:nvPr/>
        </p:nvSpPr>
        <p:spPr>
          <a:xfrm>
            <a:off x="548640" y="5074920"/>
            <a:ext cx="5303520" cy="822960"/>
          </a:xfrm>
          <a:prstGeom prst="rect">
            <a:avLst/>
          </a:prstGeom>
          <a:solidFill>
            <a:srgbClr val="F1F4F9"/>
          </a:solidFill>
          <a:ln>
            <a:noFill/>
          </a:ln>
        </p:spPr>
        <p:txBody>
          <a:bodyPr rtlCol="0" anchor="ctr"/>
          <a:lstStyle/>
          <a:p/>
        </p:txBody>
      </p:sp>
      <p:sp>
        <p:nvSpPr>
          <p:cNvPr id="25" name="TextBox 24"/>
          <p:cNvSpPr txBox="1"/>
          <p:nvPr/>
        </p:nvSpPr>
        <p:spPr>
          <a:xfrm>
            <a:off x="731520" y="5166360"/>
            <a:ext cx="4937760" cy="914400"/>
          </a:xfrm>
          <a:prstGeom prst="rect">
            <a:avLst/>
          </a:prstGeom>
          <a:noFill/>
        </p:spPr>
        <p:txBody>
          <a:bodyPr wrap="square" lIns="18288" rIns="18288" tIns="18288" bIns="18288" anchor="t">
            <a:spAutoFit/>
          </a:bodyPr>
          <a:lstStyle/>
          <a:p>
            <a:pPr algn="l">
              <a:lnSpc>
                <a:spcPct val="110000"/>
              </a:lnSpc>
              <a:spcAft>
                <a:spcPts val="400"/>
              </a:spcAft>
            </a:pPr>
            <a:r>
              <a:rPr sz="1500" b="0" i="0">
                <a:solidFill>
                  <a:srgbClr val="222222"/>
                </a:solidFill>
                <a:latin typeface="Calibri"/>
              </a:rPr>
              <a:t>Senior Data Scientist, Remote  →  datascientist</a:t>
            </a:r>
          </a:p>
          <a:p>
            <a:pPr algn="l">
              <a:lnSpc>
                <a:spcPct val="110000"/>
              </a:lnSpc>
              <a:spcAft>
                <a:spcPts val="0"/>
              </a:spcAft>
            </a:pPr>
            <a:r>
              <a:rPr sz="1500" b="0" i="0">
                <a:solidFill>
                  <a:srgbClr val="222222"/>
                </a:solidFill>
                <a:latin typeface="Calibri"/>
              </a:rPr>
              <a:t>Machine Learning Engineer  →  machinelearnengineer</a:t>
            </a:r>
          </a:p>
        </p:txBody>
      </p:sp>
      <p:sp>
        <p:nvSpPr>
          <p:cNvPr id="26" name="TextBox 25"/>
          <p:cNvSpPr txBox="1"/>
          <p:nvPr/>
        </p:nvSpPr>
        <p:spPr>
          <a:xfrm>
            <a:off x="6355080" y="3291840"/>
            <a:ext cx="5303520" cy="365760"/>
          </a:xfrm>
          <a:prstGeom prst="rect">
            <a:avLst/>
          </a:prstGeom>
          <a:noFill/>
        </p:spPr>
        <p:txBody>
          <a:bodyPr wrap="square" lIns="18288" rIns="18288" tIns="18288" bIns="18288" anchor="t">
            <a:spAutoFit/>
          </a:bodyPr>
          <a:lstStyle/>
          <a:p>
            <a:pPr algn="l">
              <a:lnSpc>
                <a:spcPct val="110000"/>
              </a:lnSpc>
              <a:spcAft>
                <a:spcPts val="0"/>
              </a:spcAft>
            </a:pPr>
            <a:r>
              <a:rPr sz="1800" b="1" i="0">
                <a:solidFill>
                  <a:srgbClr val="1F3864"/>
                </a:solidFill>
                <a:latin typeface="Calibri"/>
              </a:rPr>
              <a:t>Cleaning the descriptions</a:t>
            </a:r>
          </a:p>
        </p:txBody>
      </p:sp>
      <p:sp>
        <p:nvSpPr>
          <p:cNvPr id="27" name="TextBox 26"/>
          <p:cNvSpPr txBox="1"/>
          <p:nvPr/>
        </p:nvSpPr>
        <p:spPr>
          <a:xfrm>
            <a:off x="6355080" y="3703320"/>
            <a:ext cx="5303520" cy="2560320"/>
          </a:xfrm>
          <a:prstGeom prst="rect">
            <a:avLst/>
          </a:prstGeom>
          <a:noFill/>
        </p:spPr>
        <p:txBody>
          <a:bodyPr wrap="square" lIns="18288" rIns="18288" tIns="18288" bIns="18288">
            <a:spAutoFit/>
          </a:bodyPr>
          <a:lstStyle/>
          <a:p>
            <a:pPr marL="256032" indent="-256032">
              <a:lnSpc>
                <a:spcPct val="108000"/>
              </a:lnSpc>
              <a:spcAft>
                <a:spcPts val="600"/>
              </a:spcAft>
              <a:buChar char="•"/>
            </a:pPr>
            <a:r>
              <a:rPr sz="1600" b="0" i="0">
                <a:solidFill>
                  <a:srgbClr val="222222"/>
                </a:solidFill>
                <a:latin typeface="Calibri"/>
              </a:rPr>
              <a:t>Same cleanup, plus removing title words (data, scientist, engineer and the 150 labels) to make it harder for the model to read the title back out of the text</a:t>
            </a:r>
          </a:p>
          <a:p>
            <a:pPr marL="256032" indent="-256032">
              <a:lnSpc>
                <a:spcPct val="108000"/>
              </a:lnSpc>
              <a:spcAft>
                <a:spcPts val="600"/>
              </a:spcAft>
              <a:buChar char="•"/>
            </a:pPr>
            <a:r>
              <a:rPr sz="1600" b="0" i="0">
                <a:solidFill>
                  <a:srgbClr val="222222"/>
                </a:solidFill>
                <a:latin typeface="Calibri"/>
              </a:rPr>
              <a:t>Turned each description into TF-IDF word scores</a:t>
            </a:r>
          </a:p>
          <a:p>
            <a:pPr marL="256032" indent="-256032">
              <a:lnSpc>
                <a:spcPct val="108000"/>
              </a:lnSpc>
              <a:spcAft>
                <a:spcPts val="600"/>
              </a:spcAft>
              <a:buChar char="•"/>
            </a:pPr>
            <a:r>
              <a:rPr sz="1600" b="0" i="0">
                <a:solidFill>
                  <a:srgbClr val="222222"/>
                </a:solidFill>
                <a:latin typeface="Calibri"/>
              </a:rPr>
              <a:t>Held out 20% (3,939 postings) as a test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The most common job titles</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4</a:t>
            </a:r>
          </a:p>
        </p:txBody>
      </p:sp>
      <p:pic>
        <p:nvPicPr>
          <p:cNvPr id="6" name="Picture 5" descr="top_titles.png"/>
          <p:cNvPicPr>
            <a:picLocks noChangeAspect="1"/>
          </p:cNvPicPr>
          <p:nvPr/>
        </p:nvPicPr>
        <p:blipFill>
          <a:blip r:embed="rId2"/>
          <a:stretch>
            <a:fillRect/>
          </a:stretch>
        </p:blipFill>
        <p:spPr>
          <a:xfrm>
            <a:off x="457200" y="1414826"/>
            <a:ext cx="7132320" cy="4668427"/>
          </a:xfrm>
          <a:prstGeom prst="rect">
            <a:avLst/>
          </a:prstGeom>
        </p:spPr>
      </p:pic>
      <p:sp>
        <p:nvSpPr>
          <p:cNvPr id="7" name="TextBox 6"/>
          <p:cNvSpPr txBox="1"/>
          <p:nvPr/>
        </p:nvSpPr>
        <p:spPr>
          <a:xfrm>
            <a:off x="7818120" y="1508760"/>
            <a:ext cx="384048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Data scientist and data engineer make up about 23% of the 39,209 postings.</a:t>
            </a:r>
          </a:p>
          <a:p>
            <a:pPr algn="l">
              <a:lnSpc>
                <a:spcPct val="110000"/>
              </a:lnSpc>
              <a:spcAft>
                <a:spcPts val="1400"/>
              </a:spcAft>
            </a:pPr>
            <a:r>
              <a:rPr sz="1700" b="0" i="0">
                <a:solidFill>
                  <a:srgbClr val="222222"/>
                </a:solidFill>
                <a:latin typeface="Calibri"/>
              </a:rPr>
              <a:t>After them the counts drop fast. There are 11,817 different titles, and most appear only a few times.</a:t>
            </a:r>
          </a:p>
          <a:p>
            <a:pPr algn="l">
              <a:lnSpc>
                <a:spcPct val="110000"/>
              </a:lnSpc>
              <a:spcAft>
                <a:spcPts val="0"/>
              </a:spcAft>
            </a:pPr>
            <a:r>
              <a:rPr sz="1700" b="0" i="0">
                <a:solidFill>
                  <a:srgbClr val="222222"/>
                </a:solidFill>
                <a:latin typeface="Calibri"/>
              </a:rPr>
              <a:t>Some titles seem to come from one employer posting the same job many times, like the acoustic signal processing title with 230 postings.</a:t>
            </a:r>
          </a:p>
        </p:txBody>
      </p:sp>
      <p:sp>
        <p:nvSpPr>
          <p:cNvPr id="8" name="TextBox 7"/>
          <p:cNvSpPr txBox="1"/>
          <p:nvPr/>
        </p:nvSpPr>
        <p:spPr>
          <a:xfrm>
            <a:off x="7818120" y="5760720"/>
            <a:ext cx="3840480" cy="365760"/>
          </a:xfrm>
          <a:prstGeom prst="rect">
            <a:avLst/>
          </a:prstGeom>
          <a:noFill/>
        </p:spPr>
        <p:txBody>
          <a:bodyPr wrap="square" lIns="18288" rIns="18288" tIns="18288" bIns="18288" anchor="t">
            <a:spAutoFit/>
          </a:bodyPr>
          <a:lstStyle/>
          <a:p>
            <a:pPr algn="l">
              <a:lnSpc>
                <a:spcPct val="110000"/>
              </a:lnSpc>
              <a:spcAft>
                <a:spcPts val="0"/>
              </a:spcAft>
            </a:pPr>
            <a:r>
              <a:rPr sz="1300" b="0" i="1">
                <a:solidFill>
                  <a:srgbClr val="5F636B"/>
                </a:solidFill>
                <a:latin typeface="Calibri"/>
              </a:rPr>
              <a:t>Counts from the 2021 notebook.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Predicting the job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5</a:t>
            </a:r>
          </a:p>
        </p:txBody>
      </p:sp>
      <p:sp>
        <p:nvSpPr>
          <p:cNvPr id="6" name="TextBox 5"/>
          <p:cNvSpPr txBox="1"/>
          <p:nvPr/>
        </p:nvSpPr>
        <p:spPr>
          <a:xfrm>
            <a:off x="548640" y="1463040"/>
            <a:ext cx="5257800" cy="4206240"/>
          </a:xfrm>
          <a:prstGeom prst="rect">
            <a:avLst/>
          </a:prstGeom>
          <a:noFill/>
        </p:spPr>
        <p:txBody>
          <a:bodyPr wrap="square" lIns="18288" rIns="18288" tIns="18288" bIns="18288" anchor="t">
            <a:spAutoFit/>
          </a:bodyPr>
          <a:lstStyle/>
          <a:p>
            <a:pPr algn="l">
              <a:lnSpc>
                <a:spcPct val="110000"/>
              </a:lnSpc>
              <a:spcAft>
                <a:spcPts val="1400"/>
              </a:spcAft>
            </a:pPr>
            <a:r>
              <a:rPr sz="1700" b="0" i="0">
                <a:solidFill>
                  <a:srgbClr val="222222"/>
                </a:solidFill>
                <a:latin typeface="Calibri"/>
              </a:rPr>
              <a:t>One LinearSVC yes or no classifier per title (one-vs-rest), trained on the descriptions of 15,752 of the 19,691 postings. The other 3,939 were the test set.</a:t>
            </a:r>
          </a:p>
          <a:p>
            <a:pPr algn="l">
              <a:lnSpc>
                <a:spcPct val="110000"/>
              </a:lnSpc>
              <a:spcAft>
                <a:spcPts val="1400"/>
              </a:spcAft>
            </a:pPr>
            <a:r>
              <a:rPr sz="1700" b="0" i="0">
                <a:solidFill>
                  <a:srgbClr val="222222"/>
                </a:solidFill>
                <a:latin typeface="Calibri"/>
              </a:rPr>
              <a:t>A grid search tried C = 1, 10, 100 and 1,000 with 30-fold cross-validation, 120 fits in 14 minutes. The best value was C = 100.</a:t>
            </a:r>
          </a:p>
          <a:p>
            <a:pPr algn="l">
              <a:lnSpc>
                <a:spcPct val="110000"/>
              </a:lnSpc>
              <a:spcAft>
                <a:spcPts val="0"/>
              </a:spcAft>
            </a:pPr>
            <a:r>
              <a:rPr sz="1700" b="0" i="0">
                <a:solidFill>
                  <a:srgbClr val="222222"/>
                </a:solidFill>
                <a:latin typeface="Calibri"/>
              </a:rPr>
              <a:t>I started a 12-model comparison like the one in Project 3 but stopped it before it finished, so there is no baseline model to compare against.</a:t>
            </a:r>
          </a:p>
        </p:txBody>
      </p:sp>
      <p:sp>
        <p:nvSpPr>
          <p:cNvPr id="7" name="Rectangle 6"/>
          <p:cNvSpPr/>
          <p:nvPr/>
        </p:nvSpPr>
        <p:spPr>
          <a:xfrm>
            <a:off x="6172200" y="1463040"/>
            <a:ext cx="2651760" cy="1920240"/>
          </a:xfrm>
          <a:prstGeom prst="rect">
            <a:avLst/>
          </a:prstGeom>
          <a:solidFill>
            <a:srgbClr val="F1F4F9"/>
          </a:solidFill>
          <a:ln>
            <a:noFill/>
          </a:ln>
        </p:spPr>
        <p:txBody>
          <a:bodyPr rtlCol="0" anchor="ctr"/>
          <a:lstStyle/>
          <a:p/>
        </p:txBody>
      </p:sp>
      <p:sp>
        <p:nvSpPr>
          <p:cNvPr id="8" name="TextBox 7"/>
          <p:cNvSpPr txBox="1"/>
          <p:nvPr/>
        </p:nvSpPr>
        <p:spPr>
          <a:xfrm>
            <a:off x="6355080"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88.3</a:t>
            </a:r>
          </a:p>
        </p:txBody>
      </p:sp>
      <p:sp>
        <p:nvSpPr>
          <p:cNvPr id="9" name="TextBox 8"/>
          <p:cNvSpPr txBox="1"/>
          <p:nvPr/>
        </p:nvSpPr>
        <p:spPr>
          <a:xfrm>
            <a:off x="6355080"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Jaccard score</a:t>
            </a:r>
          </a:p>
        </p:txBody>
      </p:sp>
      <p:sp>
        <p:nvSpPr>
          <p:cNvPr id="10" name="TextBox 9"/>
          <p:cNvSpPr txBox="1"/>
          <p:nvPr/>
        </p:nvSpPr>
        <p:spPr>
          <a:xfrm>
            <a:off x="6355080"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Out of 100; higher is better</a:t>
            </a:r>
          </a:p>
        </p:txBody>
      </p:sp>
      <p:sp>
        <p:nvSpPr>
          <p:cNvPr id="11" name="Rectangle 10"/>
          <p:cNvSpPr/>
          <p:nvPr/>
        </p:nvSpPr>
        <p:spPr>
          <a:xfrm>
            <a:off x="9006840" y="1463040"/>
            <a:ext cx="2651760" cy="1920240"/>
          </a:xfrm>
          <a:prstGeom prst="rect">
            <a:avLst/>
          </a:prstGeom>
          <a:solidFill>
            <a:srgbClr val="F1F4F9"/>
          </a:solidFill>
          <a:ln>
            <a:noFill/>
          </a:ln>
        </p:spPr>
        <p:txBody>
          <a:bodyPr rtlCol="0" anchor="ctr"/>
          <a:lstStyle/>
          <a:p/>
        </p:txBody>
      </p:sp>
      <p:sp>
        <p:nvSpPr>
          <p:cNvPr id="12" name="TextBox 11"/>
          <p:cNvSpPr txBox="1"/>
          <p:nvPr/>
        </p:nvSpPr>
        <p:spPr>
          <a:xfrm>
            <a:off x="9189719" y="157276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0.12%</a:t>
            </a:r>
          </a:p>
        </p:txBody>
      </p:sp>
      <p:sp>
        <p:nvSpPr>
          <p:cNvPr id="13" name="TextBox 12"/>
          <p:cNvSpPr txBox="1"/>
          <p:nvPr/>
        </p:nvSpPr>
        <p:spPr>
          <a:xfrm>
            <a:off x="9189719" y="226771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Hamming loss</a:t>
            </a:r>
          </a:p>
        </p:txBody>
      </p:sp>
      <p:sp>
        <p:nvSpPr>
          <p:cNvPr id="14" name="TextBox 13"/>
          <p:cNvSpPr txBox="1"/>
          <p:nvPr/>
        </p:nvSpPr>
        <p:spPr>
          <a:xfrm>
            <a:off x="9189719" y="260604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yes or no calls that were wrong</a:t>
            </a:r>
          </a:p>
        </p:txBody>
      </p:sp>
      <p:sp>
        <p:nvSpPr>
          <p:cNvPr id="15" name="Rectangle 14"/>
          <p:cNvSpPr/>
          <p:nvPr/>
        </p:nvSpPr>
        <p:spPr>
          <a:xfrm>
            <a:off x="6172200" y="3566160"/>
            <a:ext cx="2651760" cy="1920240"/>
          </a:xfrm>
          <a:prstGeom prst="rect">
            <a:avLst/>
          </a:prstGeom>
          <a:solidFill>
            <a:srgbClr val="F1F4F9"/>
          </a:solidFill>
          <a:ln>
            <a:noFill/>
          </a:ln>
        </p:spPr>
        <p:txBody>
          <a:bodyPr rtlCol="0" anchor="ctr"/>
          <a:lstStyle/>
          <a:p/>
        </p:txBody>
      </p:sp>
      <p:sp>
        <p:nvSpPr>
          <p:cNvPr id="16" name="TextBox 15"/>
          <p:cNvSpPr txBox="1"/>
          <p:nvPr/>
        </p:nvSpPr>
        <p:spPr>
          <a:xfrm>
            <a:off x="6355080"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92.9%</a:t>
            </a:r>
          </a:p>
        </p:txBody>
      </p:sp>
      <p:sp>
        <p:nvSpPr>
          <p:cNvPr id="17" name="TextBox 16"/>
          <p:cNvSpPr txBox="1"/>
          <p:nvPr/>
        </p:nvSpPr>
        <p:spPr>
          <a:xfrm>
            <a:off x="6355080"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Precision</a:t>
            </a:r>
          </a:p>
        </p:txBody>
      </p:sp>
      <p:sp>
        <p:nvSpPr>
          <p:cNvPr id="18" name="TextBox 17"/>
          <p:cNvSpPr txBox="1"/>
          <p:nvPr/>
        </p:nvSpPr>
        <p:spPr>
          <a:xfrm>
            <a:off x="6355080"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predicted titles that were right</a:t>
            </a:r>
          </a:p>
        </p:txBody>
      </p:sp>
      <p:sp>
        <p:nvSpPr>
          <p:cNvPr id="19" name="Rectangle 18"/>
          <p:cNvSpPr/>
          <p:nvPr/>
        </p:nvSpPr>
        <p:spPr>
          <a:xfrm>
            <a:off x="9006840" y="3566160"/>
            <a:ext cx="2651760" cy="1920240"/>
          </a:xfrm>
          <a:prstGeom prst="rect">
            <a:avLst/>
          </a:prstGeom>
          <a:solidFill>
            <a:srgbClr val="F1F4F9"/>
          </a:solidFill>
          <a:ln>
            <a:noFill/>
          </a:ln>
        </p:spPr>
        <p:txBody>
          <a:bodyPr rtlCol="0" anchor="ctr"/>
          <a:lstStyle/>
          <a:p/>
        </p:txBody>
      </p:sp>
      <p:sp>
        <p:nvSpPr>
          <p:cNvPr id="20" name="TextBox 19"/>
          <p:cNvSpPr txBox="1"/>
          <p:nvPr/>
        </p:nvSpPr>
        <p:spPr>
          <a:xfrm>
            <a:off x="9189719" y="3675888"/>
            <a:ext cx="2286000" cy="685800"/>
          </a:xfrm>
          <a:prstGeom prst="rect">
            <a:avLst/>
          </a:prstGeom>
          <a:noFill/>
        </p:spPr>
        <p:txBody>
          <a:bodyPr wrap="square" lIns="18288" rIns="18288" tIns="18288" bIns="18288" anchor="t">
            <a:spAutoFit/>
          </a:bodyPr>
          <a:lstStyle/>
          <a:p>
            <a:pPr algn="l">
              <a:lnSpc>
                <a:spcPct val="110000"/>
              </a:lnSpc>
              <a:spcAft>
                <a:spcPts val="0"/>
              </a:spcAft>
            </a:pPr>
            <a:r>
              <a:rPr sz="3400" b="1" i="0">
                <a:solidFill>
                  <a:srgbClr val="1F3864"/>
                </a:solidFill>
                <a:latin typeface="Calibri"/>
              </a:rPr>
              <a:t>88.9%</a:t>
            </a:r>
          </a:p>
        </p:txBody>
      </p:sp>
      <p:sp>
        <p:nvSpPr>
          <p:cNvPr id="21" name="TextBox 20"/>
          <p:cNvSpPr txBox="1"/>
          <p:nvPr/>
        </p:nvSpPr>
        <p:spPr>
          <a:xfrm>
            <a:off x="9189719" y="4370832"/>
            <a:ext cx="2286000" cy="365760"/>
          </a:xfrm>
          <a:prstGeom prst="rect">
            <a:avLst/>
          </a:prstGeom>
          <a:noFill/>
        </p:spPr>
        <p:txBody>
          <a:bodyPr wrap="square" lIns="18288" rIns="18288" tIns="18288" bIns="18288" anchor="t">
            <a:spAutoFit/>
          </a:bodyPr>
          <a:lstStyle/>
          <a:p>
            <a:pPr algn="l">
              <a:lnSpc>
                <a:spcPct val="110000"/>
              </a:lnSpc>
              <a:spcAft>
                <a:spcPts val="0"/>
              </a:spcAft>
            </a:pPr>
            <a:r>
              <a:rPr sz="1500" b="1" i="0">
                <a:solidFill>
                  <a:srgbClr val="222222"/>
                </a:solidFill>
                <a:latin typeface="Calibri"/>
              </a:rPr>
              <a:t>Recall</a:t>
            </a:r>
          </a:p>
        </p:txBody>
      </p:sp>
      <p:sp>
        <p:nvSpPr>
          <p:cNvPr id="22" name="TextBox 21"/>
          <p:cNvSpPr txBox="1"/>
          <p:nvPr/>
        </p:nvSpPr>
        <p:spPr>
          <a:xfrm>
            <a:off x="9189719" y="4709160"/>
            <a:ext cx="2286000" cy="731520"/>
          </a:xfrm>
          <a:prstGeom prst="rect">
            <a:avLst/>
          </a:prstGeom>
          <a:noFill/>
        </p:spPr>
        <p:txBody>
          <a:bodyPr wrap="square" lIns="18288" rIns="18288" tIns="18288" bIns="18288" anchor="t">
            <a:spAutoFit/>
          </a:bodyPr>
          <a:lstStyle/>
          <a:p>
            <a:pPr algn="l">
              <a:lnSpc>
                <a:spcPct val="110000"/>
              </a:lnSpc>
              <a:spcAft>
                <a:spcPts val="0"/>
              </a:spcAft>
            </a:pPr>
            <a:r>
              <a:rPr sz="1300" b="0" i="0">
                <a:solidFill>
                  <a:srgbClr val="5F636B"/>
                </a:solidFill>
                <a:latin typeface="Calibri"/>
              </a:rPr>
              <a:t>Share of test postings whose title was found</a:t>
            </a:r>
          </a:p>
        </p:txBody>
      </p:sp>
      <p:sp>
        <p:nvSpPr>
          <p:cNvPr id="23" name="TextBox 22"/>
          <p:cNvSpPr txBox="1"/>
          <p:nvPr/>
        </p:nvSpPr>
        <p:spPr>
          <a:xfrm>
            <a:off x="548640" y="5760720"/>
            <a:ext cx="1106424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Precision and recall were added in 2026, from the notebook’s per-title confusion matrices.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Results by title</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6</a:t>
            </a:r>
          </a:p>
        </p:txBody>
      </p:sp>
      <p:graphicFrame>
        <p:nvGraphicFramePr>
          <p:cNvPr id="6" name="Table 5"/>
          <p:cNvGraphicFramePr>
            <a:graphicFrameLocks noGrp="1"/>
          </p:cNvGraphicFramePr>
          <p:nvPr/>
        </p:nvGraphicFramePr>
        <p:xfrm>
          <a:off x="548640" y="1463040"/>
          <a:ext cx="6858000" cy="4114800"/>
        </p:xfrm>
        <a:graphic>
          <a:graphicData uri="http://schemas.openxmlformats.org/drawingml/2006/table">
            <a:tbl>
              <a:tblPr firstRow="1" bandRow="0">
                <a:tableStyleId>{5940675A-B579-460E-94D1-54222C63F5DA}</a:tableStyleId>
              </a:tblPr>
              <a:tblGrid>
                <a:gridCol w="3017520"/>
                <a:gridCol w="1600200"/>
                <a:gridCol w="1051560"/>
                <a:gridCol w="1188720"/>
              </a:tblGrid>
              <a:tr h="411480">
                <a:tc>
                  <a:txBody>
                    <a:bodyPr wrap="square"/>
                    <a:lstStyle/>
                    <a:p>
                      <a:r>
                        <a:rPr sz="1400" b="1" i="0">
                          <a:solidFill>
                            <a:srgbClr val="FFFFFF"/>
                          </a:solidFill>
                          <a:latin typeface="Calibri"/>
                        </a:rPr>
                        <a:t>Title (as cleaned)</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Test postings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Recall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1" i="0">
                          <a:solidFill>
                            <a:srgbClr val="FFFFFF"/>
                          </a:solidFill>
                          <a:latin typeface="Calibri"/>
                        </a:rPr>
                        <a:t>Precision</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1,106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91%</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168</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83%</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125</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100%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99%</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datascience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90</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86%</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machinelearnengineer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74</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80%</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applyscientist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39</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77%</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88%</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11480">
                <a:tc>
                  <a:txBody>
                    <a:bodyPr wrap="square"/>
                    <a:lstStyle/>
                    <a:p>
                      <a:r>
                        <a:rPr sz="1400" b="0" i="0">
                          <a:solidFill>
                            <a:srgbClr val="222222"/>
                          </a:solidFill>
                          <a:latin typeface="Calibri"/>
                        </a:rPr>
                        <a:t>researchscientist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36</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67%</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pPr algn="r"/>
                      <a:r>
                        <a:rPr sz="1400" b="0" i="0">
                          <a:solidFill>
                            <a:srgbClr val="222222"/>
                          </a:solidFill>
                          <a:latin typeface="Calibri"/>
                        </a:rPr>
                        <a:t>92%</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7" name="TextBox 6"/>
          <p:cNvSpPr txBox="1"/>
          <p:nvPr/>
        </p:nvSpPr>
        <p:spPr>
          <a:xfrm>
            <a:off x="548640" y="5669280"/>
            <a:ext cx="6858000" cy="548640"/>
          </a:xfrm>
          <a:prstGeom prst="rect">
            <a:avLst/>
          </a:prstGeom>
          <a:noFill/>
        </p:spPr>
        <p:txBody>
          <a:bodyPr wrap="square" lIns="18288" rIns="18288" tIns="18288" bIns="18288" anchor="t">
            <a:spAutoFit/>
          </a:bodyPr>
          <a:lstStyle/>
          <a:p>
            <a:pPr algn="l">
              <a:lnSpc>
                <a:spcPct val="110000"/>
              </a:lnSpc>
              <a:spcAft>
                <a:spcPts val="0"/>
              </a:spcAft>
            </a:pPr>
            <a:r>
              <a:rPr sz="1200" b="0" i="0">
                <a:solidFill>
                  <a:srgbClr val="5F636B"/>
                </a:solidFill>
                <a:latin typeface="Calibri"/>
              </a:rPr>
              <a:t>General titles with 30 or more test postings. Three titles of that size that look like single-employer postings are left out; all three were predicted perfectly.</a:t>
            </a:r>
          </a:p>
        </p:txBody>
      </p:sp>
      <p:sp>
        <p:nvSpPr>
          <p:cNvPr id="8" name="Rectangle 7"/>
          <p:cNvSpPr/>
          <p:nvPr/>
        </p:nvSpPr>
        <p:spPr>
          <a:xfrm>
            <a:off x="7726679" y="1463040"/>
            <a:ext cx="3931920" cy="4114800"/>
          </a:xfrm>
          <a:prstGeom prst="rect">
            <a:avLst/>
          </a:prstGeom>
          <a:solidFill>
            <a:srgbClr val="F1F4F9"/>
          </a:solidFill>
          <a:ln>
            <a:noFill/>
          </a:ln>
        </p:spPr>
        <p:txBody>
          <a:bodyPr rtlCol="0" anchor="ctr"/>
          <a:lstStyle/>
          <a:p/>
        </p:txBody>
      </p:sp>
      <p:sp>
        <p:nvSpPr>
          <p:cNvPr id="9" name="TextBox 8"/>
          <p:cNvSpPr txBox="1"/>
          <p:nvPr/>
        </p:nvSpPr>
        <p:spPr>
          <a:xfrm>
            <a:off x="7955279" y="1645920"/>
            <a:ext cx="3520440" cy="3840480"/>
          </a:xfrm>
          <a:prstGeom prst="rect">
            <a:avLst/>
          </a:prstGeom>
          <a:noFill/>
        </p:spPr>
        <p:txBody>
          <a:bodyPr wrap="square" lIns="18288" rIns="18288" tIns="18288" bIns="18288" anchor="t">
            <a:spAutoFit/>
          </a:bodyPr>
          <a:lstStyle/>
          <a:p>
            <a:pPr algn="l">
              <a:lnSpc>
                <a:spcPct val="110000"/>
              </a:lnSpc>
              <a:spcAft>
                <a:spcPts val="1200"/>
              </a:spcAft>
            </a:pPr>
            <a:r>
              <a:rPr sz="1500" b="0" i="0">
                <a:solidFill>
                  <a:srgbClr val="222222"/>
                </a:solidFill>
                <a:latin typeface="Calibri"/>
              </a:rPr>
              <a:t>94 of the 150 titles were predicted perfectly. For many of them the strongest words are a company or place name (ssc, amazon, allstate, harrisburg), which suggests one employer posting the same job many times.</a:t>
            </a:r>
          </a:p>
          <a:p>
            <a:pPr algn="l">
              <a:lnSpc>
                <a:spcPct val="110000"/>
              </a:lnSpc>
              <a:spcAft>
                <a:spcPts val="1200"/>
              </a:spcAft>
            </a:pPr>
            <a:r>
              <a:rPr sz="1500" b="0" i="0">
                <a:solidFill>
                  <a:srgbClr val="222222"/>
                </a:solidFill>
                <a:latin typeface="Calibri"/>
              </a:rPr>
              <a:t>If copies of the same posting ended up in both the training and test sets, the overall score is higher than it would be on new postings.</a:t>
            </a:r>
          </a:p>
          <a:p>
            <a:pPr algn="l">
              <a:lnSpc>
                <a:spcPct val="110000"/>
              </a:lnSpc>
              <a:spcAft>
                <a:spcPts val="0"/>
              </a:spcAft>
            </a:pPr>
            <a:r>
              <a:rPr sz="1500" b="0" i="0">
                <a:solidFill>
                  <a:srgbClr val="222222"/>
                </a:solidFill>
                <a:latin typeface="Calibri"/>
              </a:rPr>
              <a:t>The general titles are a fairer test: data scientist 93% recall, data analyst 72%, machine learning engineer 66%.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the model learned</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The ten words with the most weight for each title in the final model, strongest first</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7</a:t>
            </a:r>
          </a:p>
        </p:txBody>
      </p:sp>
      <p:graphicFrame>
        <p:nvGraphicFramePr>
          <p:cNvPr id="7" name="Table 6"/>
          <p:cNvGraphicFramePr>
            <a:graphicFrameLocks noGrp="1"/>
          </p:cNvGraphicFramePr>
          <p:nvPr/>
        </p:nvGraphicFramePr>
        <p:xfrm>
          <a:off x="548640" y="1645920"/>
          <a:ext cx="11064240" cy="3008376"/>
        </p:xfrm>
        <a:graphic>
          <a:graphicData uri="http://schemas.openxmlformats.org/drawingml/2006/table">
            <a:tbl>
              <a:tblPr firstRow="1" bandRow="0">
                <a:tableStyleId>{5940675A-B579-460E-94D1-54222C63F5DA}</a:tableStyleId>
              </a:tblPr>
              <a:tblGrid>
                <a:gridCol w="2834640"/>
                <a:gridCol w="8229600"/>
              </a:tblGrid>
              <a:tr h="429768">
                <a:tc>
                  <a:txBody>
                    <a:bodyPr wrap="square"/>
                    <a:lstStyle/>
                    <a:p>
                      <a:r>
                        <a:rPr sz="1400" b="1" i="0">
                          <a:solidFill>
                            <a:srgbClr val="FFFFFF"/>
                          </a:solidFill>
                          <a:latin typeface="Calibri"/>
                        </a:rPr>
                        <a:t>Title</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Words</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datascientist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unlimited, ser, statistics, python, predictive, nine, div, link, vastly, algorithms</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et, pipelines, warehouse, exposure, storage, pipeline, integrity, neptune, eustis, kafka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dataanalyst</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analysis, uss, rf, moca, query, sql, requirements, neil, circulate, analyse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machinelearnengineer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production, model, ml, algorithms, ker, tensor, train, memory, eli, zing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statisticalprogrammer</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output, tfl, trial, affairs, adam, table, datasets, macro, list, multiple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429768">
                <a:tc>
                  <a:txBody>
                    <a:bodyPr wrap="square"/>
                    <a:lstStyle/>
                    <a:p>
                      <a:r>
                        <a:rPr sz="1400" b="1" i="0">
                          <a:solidFill>
                            <a:srgbClr val="222222"/>
                          </a:solidFill>
                          <a:latin typeface="Calibri"/>
                        </a:rPr>
                        <a:t>businessintelligenceanalyst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pareto, wheel, flipside, strategic, bi, report, greenville, visualization, tableau, conga</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4846320"/>
            <a:ext cx="11064240" cy="137160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222222"/>
                </a:solidFill>
                <a:latin typeface="Calibri"/>
              </a:rPr>
              <a:t>Some are real skills: sql and query for analysts, pipelines, warehouse and kafka for data engineers, tableau for BI analysts, and clinical trial reporting terms (tfl, adam, macro) for statistical programmers. Many are noise the cleanup missed, such as word fragments (ser, et, ker) and place names (eustis, greenville).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Topic model</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1115568"/>
            <a:ext cx="11064240" cy="411480"/>
          </a:xfrm>
          <a:prstGeom prst="rect">
            <a:avLst/>
          </a:prstGeom>
          <a:noFill/>
        </p:spPr>
        <p:txBody>
          <a:bodyPr wrap="square" lIns="18288" rIns="18288" tIns="18288" bIns="18288" anchor="t">
            <a:spAutoFit/>
          </a:bodyPr>
          <a:lstStyle/>
          <a:p>
            <a:pPr algn="l">
              <a:lnSpc>
                <a:spcPct val="110000"/>
              </a:lnSpc>
              <a:spcAft>
                <a:spcPts val="0"/>
              </a:spcAft>
            </a:pPr>
            <a:r>
              <a:rPr sz="1600" b="0" i="0">
                <a:solidFill>
                  <a:srgbClr val="5F636B"/>
                </a:solidFill>
                <a:latin typeface="Calibri"/>
              </a:rPr>
              <a:t>18 topics from NMF on the 19,691 descriptions. I added the labels in 2026; the words are from the 2021 notebook.</a:t>
            </a:r>
          </a:p>
        </p:txBody>
      </p:sp>
      <p:sp>
        <p:nvSpPr>
          <p:cNvPr id="5" name="TextBox 4"/>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6" name="TextBox 5"/>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8</a:t>
            </a:r>
          </a:p>
        </p:txBody>
      </p:sp>
      <p:graphicFrame>
        <p:nvGraphicFramePr>
          <p:cNvPr id="7" name="Table 6"/>
          <p:cNvGraphicFramePr>
            <a:graphicFrameLocks noGrp="1"/>
          </p:cNvGraphicFramePr>
          <p:nvPr/>
        </p:nvGraphicFramePr>
        <p:xfrm>
          <a:off x="548640" y="1645920"/>
          <a:ext cx="11064239" cy="3538728"/>
        </p:xfrm>
        <a:graphic>
          <a:graphicData uri="http://schemas.openxmlformats.org/drawingml/2006/table">
            <a:tbl>
              <a:tblPr firstRow="1" bandRow="0">
                <a:tableStyleId>{5940675A-B579-460E-94D1-54222C63F5DA}</a:tableStyleId>
              </a:tblPr>
              <a:tblGrid>
                <a:gridCol w="3108960"/>
                <a:gridCol w="7955279"/>
              </a:tblGrid>
              <a:tr h="393192">
                <a:tc>
                  <a:txBody>
                    <a:bodyPr wrap="square"/>
                    <a:lstStyle/>
                    <a:p>
                      <a:r>
                        <a:rPr sz="1400" b="1" i="0">
                          <a:solidFill>
                            <a:srgbClr val="FFFFFF"/>
                          </a:solidFill>
                          <a:latin typeface="Calibri"/>
                        </a:rPr>
                        <a:t>Label</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1" i="0">
                          <a:solidFill>
                            <a:srgbClr val="FFFFFF"/>
                          </a:solidFill>
                          <a:latin typeface="Calibri"/>
                        </a:rPr>
                        <a:t>Top words in the topic</a:t>
                      </a:r>
                    </a:p>
                  </a:txBody>
                  <a:tcPr marL="82296" marR="82296" marT="27432" marB="27432" anchor="ctr">
                    <a:solidFill>
                      <a:srgbClr val="1F3864"/>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Amazon</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amazon, ml, aw, web, model, customers, professional, inc</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Intuit</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intuit, mountain, view, prosperity, model, products, side, quick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Facebook</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facebook, closer, together, people, accommodations, build, ways, menlo</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Acoustic signal processing</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signal, ssc, corporation, underwater, acoustic, acoustics, systems, sonar</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Government intelligence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dni, aug, analytic, tyson, corner, advise, efforts, clearance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Drug studies</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study, td, drug, project, biology, university, unite, include</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Agriculture</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ag, nov, growers, map, agriculture, crop, labor, spatial</a:t>
                      </a:r>
                    </a:p>
                  </a:txBody>
                  <a:tcPr marL="82296" marR="82296" marT="27432" marB="27432" anchor="ctr">
                    <a:solidFill>
                      <a:srgbClr val="FFFFFF"/>
                    </a:solidFill>
                    <a:lnL w="6350">
                      <a:solidFill>
                        <a:srgbClr val="D5DBE5"/>
                      </a:solidFill>
                    </a:lnL>
                    <a:lnR w="6350">
                      <a:solidFill>
                        <a:srgbClr val="D5DBE5"/>
                      </a:solidFill>
                    </a:lnR>
                    <a:lnT w="6350">
                      <a:solidFill>
                        <a:srgbClr val="D5DBE5"/>
                      </a:solidFill>
                    </a:lnT>
                    <a:lnB w="6350">
                      <a:solidFill>
                        <a:srgbClr val="D5DBE5"/>
                      </a:solidFill>
                    </a:lnB>
                  </a:tcPr>
                </a:tc>
              </a:tr>
              <a:tr h="393192">
                <a:tc>
                  <a:txBody>
                    <a:bodyPr wrap="square"/>
                    <a:lstStyle/>
                    <a:p>
                      <a:r>
                        <a:rPr sz="1400" b="1" i="0">
                          <a:solidFill>
                            <a:srgbClr val="222222"/>
                          </a:solidFill>
                          <a:latin typeface="Calibri"/>
                        </a:rPr>
                        <a:t>General data work</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c>
                  <a:txBody>
                    <a:bodyPr wrap="square"/>
                    <a:lstStyle/>
                    <a:p>
                      <a:r>
                        <a:rPr sz="1400" b="0" i="0">
                          <a:solidFill>
                            <a:srgbClr val="222222"/>
                          </a:solidFill>
                          <a:latin typeface="Calibri"/>
                        </a:rPr>
                        <a:t>team, cloud, build, design, review, model, financial, tool</a:t>
                      </a:r>
                    </a:p>
                  </a:txBody>
                  <a:tcPr marL="82296" marR="82296" marT="27432" marB="27432" anchor="ctr">
                    <a:solidFill>
                      <a:srgbClr val="F1F4F9"/>
                    </a:solidFill>
                    <a:lnL w="6350">
                      <a:solidFill>
                        <a:srgbClr val="D5DBE5"/>
                      </a:solidFill>
                    </a:lnL>
                    <a:lnR w="6350">
                      <a:solidFill>
                        <a:srgbClr val="D5DBE5"/>
                      </a:solidFill>
                    </a:lnR>
                    <a:lnT w="6350">
                      <a:solidFill>
                        <a:srgbClr val="D5DBE5"/>
                      </a:solidFill>
                    </a:lnT>
                    <a:lnB w="6350">
                      <a:solidFill>
                        <a:srgbClr val="D5DBE5"/>
                      </a:solidFill>
                    </a:lnB>
                  </a:tcPr>
                </a:tc>
              </a:tr>
            </a:tbl>
          </a:graphicData>
        </a:graphic>
      </p:graphicFrame>
      <p:sp>
        <p:nvSpPr>
          <p:cNvPr id="8" name="TextBox 7"/>
          <p:cNvSpPr txBox="1"/>
          <p:nvPr/>
        </p:nvSpPr>
        <p:spPr>
          <a:xfrm>
            <a:off x="548640" y="5349240"/>
            <a:ext cx="11064240" cy="822960"/>
          </a:xfrm>
          <a:prstGeom prst="rect">
            <a:avLst/>
          </a:prstGeom>
          <a:noFill/>
        </p:spPr>
        <p:txBody>
          <a:bodyPr wrap="square" lIns="18288" rIns="18288" tIns="18288" bIns="18288" anchor="t">
            <a:spAutoFit/>
          </a:bodyPr>
          <a:lstStyle/>
          <a:p>
            <a:pPr algn="l">
              <a:lnSpc>
                <a:spcPct val="110000"/>
              </a:lnSpc>
              <a:spcAft>
                <a:spcPts val="0"/>
              </a:spcAft>
            </a:pPr>
            <a:r>
              <a:rPr sz="1700" b="0" i="0">
                <a:solidFill>
                  <a:srgbClr val="222222"/>
                </a:solidFill>
                <a:latin typeface="Calibri"/>
              </a:rPr>
              <a:t>Several topics are one employer’s postings. Others group by field, such as drug studies and agriculture.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Clustering</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9</a:t>
            </a:r>
          </a:p>
        </p:txBody>
      </p:sp>
      <p:sp>
        <p:nvSpPr>
          <p:cNvPr id="6" name="Rectangle 5"/>
          <p:cNvSpPr/>
          <p:nvPr/>
        </p:nvSpPr>
        <p:spPr>
          <a:xfrm>
            <a:off x="548640" y="1371600"/>
            <a:ext cx="3291840" cy="3154680"/>
          </a:xfrm>
          <a:prstGeom prst="rect">
            <a:avLst/>
          </a:prstGeom>
          <a:solidFill>
            <a:srgbClr val="FFFFFF"/>
          </a:solidFill>
          <a:ln w="9525">
            <a:solidFill>
              <a:srgbClr val="C8D0E0"/>
            </a:solidFill>
          </a:ln>
        </p:spPr>
        <p:txBody>
          <a:bodyPr rtlCol="0" anchor="ctr"/>
          <a:lstStyle/>
          <a:p/>
        </p:txBody>
      </p:sp>
      <p:pic>
        <p:nvPicPr>
          <p:cNvPr id="7" name="Picture 6" descr="kmeans_elbow.png"/>
          <p:cNvPicPr>
            <a:picLocks noChangeAspect="1"/>
          </p:cNvPicPr>
          <p:nvPr/>
        </p:nvPicPr>
        <p:blipFill>
          <a:blip r:embed="rId2"/>
          <a:stretch>
            <a:fillRect/>
          </a:stretch>
        </p:blipFill>
        <p:spPr>
          <a:xfrm>
            <a:off x="640080" y="1550270"/>
            <a:ext cx="3108960" cy="2797339"/>
          </a:xfrm>
          <a:prstGeom prst="rect">
            <a:avLst/>
          </a:prstGeom>
        </p:spPr>
      </p:pic>
      <p:sp>
        <p:nvSpPr>
          <p:cNvPr id="8" name="Rectangle 7"/>
          <p:cNvSpPr/>
          <p:nvPr/>
        </p:nvSpPr>
        <p:spPr>
          <a:xfrm>
            <a:off x="4069080" y="1371600"/>
            <a:ext cx="7589520" cy="3154680"/>
          </a:xfrm>
          <a:prstGeom prst="rect">
            <a:avLst/>
          </a:prstGeom>
          <a:solidFill>
            <a:srgbClr val="FFFFFF"/>
          </a:solidFill>
          <a:ln w="9525">
            <a:solidFill>
              <a:srgbClr val="C8D0E0"/>
            </a:solidFill>
          </a:ln>
        </p:spPr>
        <p:txBody>
          <a:bodyPr rtlCol="0" anchor="ctr"/>
          <a:lstStyle/>
          <a:p/>
        </p:txBody>
      </p:sp>
      <p:pic>
        <p:nvPicPr>
          <p:cNvPr id="9" name="Picture 8" descr="pca_tsne.png"/>
          <p:cNvPicPr>
            <a:picLocks noChangeAspect="1"/>
          </p:cNvPicPr>
          <p:nvPr/>
        </p:nvPicPr>
        <p:blipFill>
          <a:blip r:embed="rId3"/>
          <a:stretch>
            <a:fillRect/>
          </a:stretch>
        </p:blipFill>
        <p:spPr>
          <a:xfrm>
            <a:off x="4646943" y="1463040"/>
            <a:ext cx="6433793" cy="2971800"/>
          </a:xfrm>
          <a:prstGeom prst="rect">
            <a:avLst/>
          </a:prstGeom>
        </p:spPr>
      </p:pic>
      <p:sp>
        <p:nvSpPr>
          <p:cNvPr id="10" name="TextBox 9"/>
          <p:cNvSpPr txBox="1"/>
          <p:nvPr/>
        </p:nvSpPr>
        <p:spPr>
          <a:xfrm>
            <a:off x="548640" y="4617720"/>
            <a:ext cx="329184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Error by number of clusters</a:t>
            </a:r>
          </a:p>
        </p:txBody>
      </p:sp>
      <p:sp>
        <p:nvSpPr>
          <p:cNvPr id="11" name="TextBox 10"/>
          <p:cNvSpPr txBox="1"/>
          <p:nvPr/>
        </p:nvSpPr>
        <p:spPr>
          <a:xfrm>
            <a:off x="4069080" y="4617720"/>
            <a:ext cx="7589520" cy="320040"/>
          </a:xfrm>
          <a:prstGeom prst="rect">
            <a:avLst/>
          </a:prstGeom>
          <a:noFill/>
        </p:spPr>
        <p:txBody>
          <a:bodyPr wrap="square" lIns="18288" rIns="18288" tIns="18288" bIns="18288" anchor="t">
            <a:spAutoFit/>
          </a:bodyPr>
          <a:lstStyle/>
          <a:p>
            <a:pPr algn="l">
              <a:lnSpc>
                <a:spcPct val="110000"/>
              </a:lnSpc>
              <a:spcAft>
                <a:spcPts val="0"/>
              </a:spcAft>
            </a:pPr>
            <a:r>
              <a:rPr sz="1200" b="0" i="1">
                <a:solidFill>
                  <a:srgbClr val="5F636B"/>
                </a:solidFill>
                <a:latin typeface="Calibri"/>
              </a:rPr>
              <a:t>300 random postings, colored by cluster</a:t>
            </a:r>
          </a:p>
        </p:txBody>
      </p:sp>
      <p:sp>
        <p:nvSpPr>
          <p:cNvPr id="12" name="TextBox 11"/>
          <p:cNvSpPr txBox="1"/>
          <p:nvPr/>
        </p:nvSpPr>
        <p:spPr>
          <a:xfrm>
            <a:off x="548640" y="5029200"/>
            <a:ext cx="11064240" cy="1280160"/>
          </a:xfrm>
          <a:prstGeom prst="rect">
            <a:avLst/>
          </a:prstGeom>
          <a:noFill/>
        </p:spPr>
        <p:txBody>
          <a:bodyPr wrap="square" lIns="18288" rIns="18288" tIns="18288" bIns="18288" anchor="t">
            <a:spAutoFit/>
          </a:bodyPr>
          <a:lstStyle/>
          <a:p>
            <a:pPr algn="l">
              <a:lnSpc>
                <a:spcPct val="110000"/>
              </a:lnSpc>
              <a:spcAft>
                <a:spcPts val="800"/>
              </a:spcAft>
            </a:pPr>
            <a:r>
              <a:rPr sz="1600" b="0" i="0">
                <a:solidFill>
                  <a:srgbClr val="222222"/>
                </a:solidFill>
                <a:latin typeface="Calibri"/>
              </a:rPr>
              <a:t>MiniBatchKMeans on the same descriptions. The error kept falling as clusters were added, with no clear bend. I used 18 clusters, the same number as the topic model. Most postings fall in one large group in the plots.</a:t>
            </a:r>
          </a:p>
          <a:p>
            <a:pPr algn="l">
              <a:lnSpc>
                <a:spcPct val="110000"/>
              </a:lnSpc>
              <a:spcAft>
                <a:spcPts val="0"/>
              </a:spcAft>
            </a:pPr>
            <a:r>
              <a:rPr sz="1600" b="0" i="0">
                <a:solidFill>
                  <a:srgbClr val="222222"/>
                </a:solidFill>
                <a:latin typeface="Calibri"/>
              </a:rPr>
              <a:t>Some clusters were mostly one employer (Amazon, Intuit). Others matched fields such as university research, clinical trials and agriculture. Charts from the 2021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640080"/>
          </a:xfrm>
          <a:prstGeom prst="rect">
            <a:avLst/>
          </a:prstGeom>
          <a:noFill/>
        </p:spPr>
        <p:txBody>
          <a:bodyPr wrap="square" lIns="18288" rIns="18288" tIns="18288" bIns="18288" anchor="t">
            <a:spAutoFit/>
          </a:bodyPr>
          <a:lstStyle/>
          <a:p>
            <a:pPr algn="l">
              <a:lnSpc>
                <a:spcPct val="110000"/>
              </a:lnSpc>
              <a:spcAft>
                <a:spcPts val="0"/>
              </a:spcAft>
            </a:pPr>
            <a:r>
              <a:rPr sz="3000" b="1" i="0">
                <a:solidFill>
                  <a:srgbClr val="1F3864"/>
                </a:solidFill>
                <a:latin typeface="Calibri"/>
              </a:rPr>
              <a:t>What I would do differently</a:t>
            </a:r>
          </a:p>
        </p:txBody>
      </p:sp>
      <p:sp>
        <p:nvSpPr>
          <p:cNvPr id="3" name="Rectangle 2"/>
          <p:cNvSpPr/>
          <p:nvPr/>
        </p:nvSpPr>
        <p:spPr>
          <a:xfrm>
            <a:off x="548640" y="987552"/>
            <a:ext cx="822960" cy="45720"/>
          </a:xfrm>
          <a:prstGeom prst="rect">
            <a:avLst/>
          </a:prstGeom>
          <a:solidFill>
            <a:srgbClr val="BF9000"/>
          </a:solidFill>
          <a:ln>
            <a:noFill/>
          </a:ln>
        </p:spPr>
        <p:txBody>
          <a:bodyPr rtlCol="0" anchor="ctr"/>
          <a:lstStyle/>
          <a:p/>
        </p:txBody>
      </p:sp>
      <p:sp>
        <p:nvSpPr>
          <p:cNvPr id="4" name="TextBox 3"/>
          <p:cNvSpPr txBox="1"/>
          <p:nvPr/>
        </p:nvSpPr>
        <p:spPr>
          <a:xfrm>
            <a:off x="548640" y="6419088"/>
            <a:ext cx="9144000" cy="274320"/>
          </a:xfrm>
          <a:prstGeom prst="rect">
            <a:avLst/>
          </a:prstGeom>
          <a:noFill/>
        </p:spPr>
        <p:txBody>
          <a:bodyPr wrap="square" lIns="18288" rIns="18288" tIns="18288" bIns="18288" anchor="t">
            <a:spAutoFit/>
          </a:bodyPr>
          <a:lstStyle/>
          <a:p>
            <a:pPr algn="l">
              <a:lnSpc>
                <a:spcPct val="110000"/>
              </a:lnSpc>
              <a:spcAft>
                <a:spcPts val="0"/>
              </a:spcAft>
            </a:pPr>
            <a:r>
              <a:rPr sz="1000" b="0" i="0">
                <a:solidFill>
                  <a:srgbClr val="5F636B"/>
                </a:solidFill>
                <a:latin typeface="Calibri"/>
              </a:rPr>
              <a:t>Garreth Cline  |  Hacking the data science job description  |  Metis, March 2021</a:t>
            </a:r>
          </a:p>
        </p:txBody>
      </p:sp>
      <p:sp>
        <p:nvSpPr>
          <p:cNvPr id="5" name="TextBox 4"/>
          <p:cNvSpPr txBox="1"/>
          <p:nvPr/>
        </p:nvSpPr>
        <p:spPr>
          <a:xfrm>
            <a:off x="10698480" y="6419088"/>
            <a:ext cx="914400" cy="274320"/>
          </a:xfrm>
          <a:prstGeom prst="rect">
            <a:avLst/>
          </a:prstGeom>
          <a:noFill/>
        </p:spPr>
        <p:txBody>
          <a:bodyPr wrap="square" lIns="18288" rIns="18288" tIns="18288" bIns="18288" anchor="t">
            <a:spAutoFit/>
          </a:bodyPr>
          <a:lstStyle/>
          <a:p>
            <a:pPr algn="r">
              <a:lnSpc>
                <a:spcPct val="110000"/>
              </a:lnSpc>
              <a:spcAft>
                <a:spcPts val="0"/>
              </a:spcAft>
            </a:pPr>
            <a:r>
              <a:rPr sz="1000" b="0" i="0">
                <a:solidFill>
                  <a:srgbClr val="5F636B"/>
                </a:solidFill>
                <a:latin typeface="Calibri"/>
              </a:rPr>
              <a:t>10</a:t>
            </a:r>
          </a:p>
        </p:txBody>
      </p:sp>
      <p:sp>
        <p:nvSpPr>
          <p:cNvPr id="6" name="TextBox 5"/>
          <p:cNvSpPr txBox="1"/>
          <p:nvPr/>
        </p:nvSpPr>
        <p:spPr>
          <a:xfrm>
            <a:off x="548640" y="1463040"/>
            <a:ext cx="11064240" cy="4754880"/>
          </a:xfrm>
          <a:prstGeom prst="rect">
            <a:avLst/>
          </a:prstGeom>
          <a:noFill/>
        </p:spPr>
        <p:txBody>
          <a:bodyPr wrap="square" lIns="18288" rIns="18288" tIns="18288" bIns="18288">
            <a:spAutoFit/>
          </a:bodyPr>
          <a:lstStyle/>
          <a:p>
            <a:pPr marL="256032" indent="-256032">
              <a:lnSpc>
                <a:spcPct val="108000"/>
              </a:lnSpc>
              <a:spcAft>
                <a:spcPts val="1400"/>
              </a:spcAft>
              <a:buChar char="•"/>
            </a:pPr>
            <a:r>
              <a:rPr sz="1900" b="0" i="0">
                <a:solidFill>
                  <a:srgbClr val="222222"/>
                </a:solidFill>
                <a:latin typeface="Calibri"/>
              </a:rPr>
              <a:t>Remove duplicate postings before splitting the data, so the test set only has postings the model hasn’t seen.</a:t>
            </a:r>
          </a:p>
          <a:p>
            <a:pPr marL="256032" indent="-256032">
              <a:lnSpc>
                <a:spcPct val="108000"/>
              </a:lnSpc>
              <a:spcAft>
                <a:spcPts val="1400"/>
              </a:spcAft>
              <a:buChar char="•"/>
            </a:pPr>
            <a:r>
              <a:rPr sz="1900" b="0" i="0">
                <a:solidFill>
                  <a:srgbClr val="222222"/>
                </a:solidFill>
                <a:latin typeface="Calibri"/>
              </a:rPr>
              <a:t>Strip company names, locations and benefits text from the descriptions.</a:t>
            </a:r>
          </a:p>
          <a:p>
            <a:pPr marL="256032" indent="-256032">
              <a:lnSpc>
                <a:spcPct val="108000"/>
              </a:lnSpc>
              <a:spcAft>
                <a:spcPts val="1400"/>
              </a:spcAft>
              <a:buChar char="•"/>
            </a:pPr>
            <a:r>
              <a:rPr sz="1900" b="0" i="0">
                <a:solidFill>
                  <a:srgbClr val="222222"/>
                </a:solidFill>
                <a:latin typeface="Calibri"/>
              </a:rPr>
              <a:t>Group the 11,817 titles into a handful of job families before modeling.</a:t>
            </a:r>
          </a:p>
          <a:p>
            <a:pPr marL="256032" indent="-256032">
              <a:lnSpc>
                <a:spcPct val="108000"/>
              </a:lnSpc>
              <a:spcAft>
                <a:spcPts val="1400"/>
              </a:spcAft>
              <a:buChar char="•"/>
            </a:pPr>
            <a:r>
              <a:rPr sz="1900" b="0" i="0">
                <a:solidFill>
                  <a:srgbClr val="222222"/>
                </a:solidFill>
                <a:latin typeface="Calibri"/>
              </a:rPr>
              <a:t>Finish the model comparison, with a dummy baseline.</a:t>
            </a:r>
          </a:p>
          <a:p>
            <a:pPr marL="256032" indent="-256032">
              <a:lnSpc>
                <a:spcPct val="108000"/>
              </a:lnSpc>
              <a:spcAft>
                <a:spcPts val="1400"/>
              </a:spcAft>
              <a:buChar char="•"/>
            </a:pPr>
            <a:r>
              <a:rPr sz="1900" b="0" i="0">
                <a:solidFill>
                  <a:srgbClr val="222222"/>
                </a:solidFill>
                <a:latin typeface="Calibri"/>
              </a:rPr>
              <a:t>Rerun the notebook from top to bottom. It was run in several sessions, so some printed outputs come from earlier runs than the final model.</a:t>
            </a:r>
          </a:p>
          <a:p>
            <a:pPr marL="256032" indent="-256032">
              <a:lnSpc>
                <a:spcPct val="108000"/>
              </a:lnSpc>
              <a:spcAft>
                <a:spcPts val="1400"/>
              </a:spcAft>
              <a:buChar char="•"/>
            </a:pPr>
            <a:r>
              <a:rPr sz="1900" b="0" i="0">
                <a:solidFill>
                  <a:srgbClr val="222222"/>
                </a:solidFill>
                <a:latin typeface="Calibri"/>
              </a:rPr>
              <a:t>Scrape new postings; these were collected for the 2021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Hacking the Data Science Job Description</dc:title>
  <dc:subject>Metis Data Science Bootcamp, Project 5, March 2021</dc:subject>
  <dc:creator>Garreth Cline</dc:creator>
  <cp:keywords/>
  <dc:description/>
  <cp:lastModifiedBy>Garreth Cline</cp:lastModifiedBy>
  <cp:revision>1</cp:revision>
  <dcterms:created xsi:type="dcterms:W3CDTF">2026-10-12T21:04:22Z</dcterms:created>
  <dcterms:modified xsi:type="dcterms:W3CDTF">2026-10-12T21:04:22Z</dcterms:modified>
  <cp:category/>
</cp:coreProperties>
</file>