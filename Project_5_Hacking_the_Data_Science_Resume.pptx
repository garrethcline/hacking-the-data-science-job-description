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1" i="0" u="none" strike="noStrike">
                <a:solidFill>
                  <a:srgbClr val="1E293B"/>
                </a:solidFill>
                <a:latin typeface="Calibri"/>
              </a:rPr>
              <a:t>Top 20 title tokens in 40,000 postings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scientist</c:v>
                  </c:pt>
                  <c:pt idx="1">
                    <c:v>engineer</c:v>
                  </c:pt>
                  <c:pt idx="2">
                    <c:v>analyst</c:v>
                  </c:pt>
                  <c:pt idx="3">
                    <c:v>researcher</c:v>
                  </c:pt>
                  <c:pt idx="4">
                    <c:v>architect</c:v>
                  </c:pt>
                  <c:pt idx="5">
                    <c:v>statistician</c:v>
                  </c:pt>
                  <c:pt idx="6">
                    <c:v>programmer</c:v>
                  </c:pt>
                  <c:pt idx="7">
                    <c:v>developer</c:v>
                  </c:pt>
                  <c:pt idx="8">
                    <c:v>specialist</c:v>
                  </c:pt>
                  <c:pt idx="9">
                    <c:v>lead</c:v>
                  </c:pt>
                  <c:pt idx="10">
                    <c:v>consultant</c:v>
                  </c:pt>
                  <c:pt idx="11">
                    <c:v>manager</c:v>
                  </c:pt>
                  <c:pt idx="12">
                    <c:v>ml</c:v>
                  </c:pt>
                  <c:pt idx="13">
                    <c:v>ai</c:v>
                  </c:pt>
                  <c:pt idx="14">
                    <c:v>intern</c:v>
                  </c:pt>
                  <c:pt idx="15">
                    <c:v>associate</c:v>
                  </c:pt>
                  <c:pt idx="16">
                    <c:v>director</c:v>
                  </c:pt>
                  <c:pt idx="17">
                    <c:v>technician</c:v>
                  </c:pt>
                  <c:pt idx="18">
                    <c:v>coordinator</c:v>
                  </c:pt>
                  <c:pt idx="19">
                    <c:v>writer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5430</c:v>
                </c:pt>
                <c:pt idx="1">
                  <c:v>4080</c:v>
                </c:pt>
                <c:pt idx="2">
                  <c:v>3620</c:v>
                </c:pt>
                <c:pt idx="3">
                  <c:v>1580</c:v>
                </c:pt>
                <c:pt idx="4">
                  <c:v>1210</c:v>
                </c:pt>
                <c:pt idx="5">
                  <c:v>1130</c:v>
                </c:pt>
                <c:pt idx="6">
                  <c:v>980</c:v>
                </c:pt>
                <c:pt idx="7">
                  <c:v>910</c:v>
                </c:pt>
                <c:pt idx="8">
                  <c:v>870</c:v>
                </c:pt>
                <c:pt idx="9">
                  <c:v>820</c:v>
                </c:pt>
                <c:pt idx="10">
                  <c:v>760</c:v>
                </c:pt>
                <c:pt idx="11">
                  <c:v>710</c:v>
                </c:pt>
                <c:pt idx="12">
                  <c:v>690</c:v>
                </c:pt>
                <c:pt idx="13">
                  <c:v>640</c:v>
                </c:pt>
                <c:pt idx="14">
                  <c:v>580</c:v>
                </c:pt>
                <c:pt idx="15">
                  <c:v>520</c:v>
                </c:pt>
                <c:pt idx="16">
                  <c:v>470</c:v>
                </c:pt>
                <c:pt idx="17">
                  <c:v>430</c:v>
                </c:pt>
                <c:pt idx="18">
                  <c:v>380</c:v>
                </c:pt>
                <c:pt idx="19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Jaccard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F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Dummy baseline</c:v>
                  </c:pt>
                  <c:pt idx="1">
                    <c:v>K-Nearest Neighbors</c:v>
                  </c:pt>
                  <c:pt idx="2">
                    <c:v>Decision Tree</c:v>
                  </c:pt>
                  <c:pt idx="3">
                    <c:v>Multinomial NB</c:v>
                  </c:pt>
                  <c:pt idx="4">
                    <c:v>Perceptron</c:v>
                  </c:pt>
                  <c:pt idx="5">
                    <c:v>Random Forest (10)</c:v>
                  </c:pt>
                  <c:pt idx="6">
                    <c:v>Passive Aggressive</c:v>
                  </c:pt>
                  <c:pt idx="7">
                    <c:v>SGD</c:v>
                  </c:pt>
                  <c:pt idx="8">
                    <c:v>Random Forest (100)</c:v>
                  </c:pt>
                  <c:pt idx="9">
                    <c:v>Random Forest (1000)</c:v>
                  </c:pt>
                  <c:pt idx="10">
                    <c:v>Logistic Regression</c:v>
                  </c:pt>
                  <c:pt idx="11">
                    <c:v>LinearSVC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12.4</c:v>
                </c:pt>
                <c:pt idx="1">
                  <c:v>41.8</c:v>
                </c:pt>
                <c:pt idx="2">
                  <c:v>48.3</c:v>
                </c:pt>
                <c:pt idx="3">
                  <c:v>53.7</c:v>
                </c:pt>
                <c:pt idx="4">
                  <c:v>58.2</c:v>
                </c:pt>
                <c:pt idx="5">
                  <c:v>60.4</c:v>
                </c:pt>
                <c:pt idx="6">
                  <c:v>64.1</c:v>
                </c:pt>
                <c:pt idx="7">
                  <c:v>66.9</c:v>
                </c:pt>
                <c:pt idx="8">
                  <c:v>68.2</c:v>
                </c:pt>
                <c:pt idx="9">
                  <c:v>70.5</c:v>
                </c:pt>
                <c:pt idx="10">
                  <c:v>72.8</c:v>
                </c:pt>
                <c:pt idx="11">
                  <c:v>74.6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F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Jaccard</c:v>
                </c:pt>
              </c:strCache>
            </c:strRef>
          </c:tx>
          <c:spPr>
            <a:solidFill>
              <a:srgbClr val="065A82"/>
            </a:solidFill>
            <a:ln w="508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F44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C=1</c:v>
                  </c:pt>
                  <c:pt idx="1">
                    <c:v>C=10</c:v>
                  </c:pt>
                  <c:pt idx="2">
                    <c:v>C=100</c:v>
                  </c:pt>
                  <c:pt idx="3">
                    <c:v>C=1000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73.1</c:v>
                </c:pt>
                <c:pt idx="1">
                  <c:v>77.4</c:v>
                </c:pt>
                <c:pt idx="2">
                  <c:v>76.2</c:v>
                </c:pt>
                <c:pt idx="3">
                  <c:v>74.8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F4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F4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Analytics / BI</c:v>
                  </c:pt>
                  <c:pt idx="1">
                    <c:v>Classical ML / stats</c:v>
                  </c:pt>
                  <c:pt idx="2">
                    <c:v>Research scientist</c:v>
                  </c:pt>
                  <c:pt idx="3">
                    <c:v>MLOps / platform</c:v>
                  </c:pt>
                  <c:pt idx="4">
                    <c:v>Health / bio</c:v>
                  </c:pt>
                  <c:pt idx="5">
                    <c:v>Data engineering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7100</c:v>
                </c:pt>
                <c:pt idx="2">
                  <c:v>6400</c:v>
                </c:pt>
                <c:pt idx="3">
                  <c:v>4900</c:v>
                </c:pt>
                <c:pt idx="4">
                  <c:v>3200</c:v>
                </c:pt>
                <c:pt idx="5">
                  <c:v>2800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F4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880360"/>
            <a:ext cx="548640" cy="45720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Hacking the Data Science Resume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exploration of what the data science labor market actually asks for — combining supervised classification, topic modeling, and clustering over ~40,000 job postings.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 •   Metis Data Science Bootcamp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asked, and what it found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titles are chaotic — a "Data Scientist" at company A does what a "ML Engineer" does at company B. Can a model read a job description and infer the role family? And what latent structure does the posting corpus reveal?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73152" cy="685800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737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366760" y="1737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postings ingested and cleaned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560320"/>
            <a:ext cx="73152" cy="685800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366760" y="2560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top-class label (LinearSVC, tuned)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383280"/>
            <a:ext cx="73152" cy="685800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66760" y="3383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topics surfaced via NMF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206240"/>
            <a:ext cx="73152" cy="685800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206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36676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distinguishable role families after clustering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949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language of job descriptions is strongly predictive of role family — and the "boundary" between Scientist / Engineer / Analyst is fuzzy but not arbitrary.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/ 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titles don't tell you the job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job seekers face a translation problem. The same role is advertised under a dozen different titles; different companies use the same title for dramatically different work. A description-level view cuts through that noise.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Scientist / Engineer / Analyst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21945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title families, comprising ~60% of all postings.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2971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 four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34290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carry multiple role descriptors in the title (e.g. "senior data scientist, ML").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distinct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0" y="46634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role archetypes emerge from the descriptions — not the titles.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3108960"/>
          <a:ext cx="6858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Pipeline: ingest → clean → model → interpret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scraped Indeed CSVs, concatenated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59152" y="1828800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9152" y="1828800"/>
            <a:ext cx="73152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87752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87752" y="28529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Lowercasing, lemmatization, layered stopwords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1104" y="1828800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61104" y="182880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9704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9704" y="28529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Top-150 title tokens as multi-label targets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1828800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828800"/>
            <a:ext cx="7315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91656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91656" y="28529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 descriptions (1,000 max features)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5008" y="1828800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1828800"/>
            <a:ext cx="73152" cy="19202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93608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93608" y="28529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12-classifier sweep, tuned LinearSVC, NMF, K-Means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66960" y="1828800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1828800"/>
            <a:ext cx="73152" cy="19202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9556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9556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195560" y="2852928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features, cluster vocab, PCA / t-SNE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11247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4800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OctoParse · BeautifulSoup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93008" y="4800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93008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(WordNet lemmatizer, ToktokTokenizer) · regex · wordninja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0216" y="4800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0216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OneVsRest · GridSearchCV · LinearSVC · NMF · MiniBatchKMeans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07424" y="4800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07424" y="50749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 · PCA → t-SNE pipeline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Cleaning: layered stopwords, deliberate leakage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postings carried three kinds of noise: encoding artifacts from the ISO-8859-1 source, geographic tokens leaking into titles, and — most importantly — the target vocabulary leaking into the feature matrix. Each was handled explicitly.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73152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Standard English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words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28803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stopwords baseline. Removes the, and, of, etc. — zero-signal glue words.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73152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Geographic noise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tokens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3749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 + abbreviations. Cities leak into titles often enough to matter.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73152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Title-specific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46177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markers, encoding artifacts (\x80, \x93), administrative boilerplate.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440680"/>
            <a:ext cx="73152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Description leak guard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54864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top-150 title tokens themselves — banned from the description side so the classifier can't just pattern-match.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/ 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features, multi-label targets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TF-IDF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 Frequency–Inverse Document Frequency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word's weight = how often it appears in a posting × log of how rare it is across the corpus. Words in every posting get weight ~0. Words in one posting get maximum weight.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cap: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931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pattern: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4251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non-whitespace, ≥2 chars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shape: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× 1,000  sparse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4892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20%, stratified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55778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— MULTI-LABEL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Top-150 title tokens, binarized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posting's title is reduced to the subset of its tokens that appear in the top-150 most common. One posting can therefore carry several labels — a posting with title "senior data scientist, machine learning" gets labeled both scientist and ml.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251960"/>
            <a:ext cx="5120640" cy="1737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4617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senior data scientist — machine learning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tokens: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[scientist, ml]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vector: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ml=1, scientist=1, others=0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/ 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Jaccard and Hamming: the multi-label pair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57784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 ∩ B |  /  | A ∪ B |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intersection divided by size of the union. 1.0 means exact match of the predicted label set to the true label set. Rewards getting the whole set right.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53035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whether the correct combination of roles was recovered.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5778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737360"/>
            <a:ext cx="557784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LOSS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#(wrong labels) / #(total labels)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individual label bits that are wrong. More forgiving than Jaccard — a prediction that gets 9 of 10 labels right is penalized only for the one it missed.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53035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per-label accuracy independent of how the labels co-occur.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/  MODEL SWEEP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classifiers tested — LinearSVC and Logistic lead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7589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32104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wins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21040" y="24688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and Logistic Regression outperform every ensemble tested. TF-IDF + linear model is a genuinely strong baseline for text.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Diminishing returns on trees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21040" y="38862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Random Forest from 10 → 1,000 trees adds 10 points of Jaccard but 100× runtime — the chart hides that cost.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21040" y="4983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 held up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21040" y="5303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 at 53.7% is 40 points above the dummy baseline with near-zero training cost.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/  TUNED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LinearSVC grid-searched: C = 10 wins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(5-fold CV)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5577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2120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regularization curve. Under-regularized (C=1) leaves the model too conservative. Over-regularized (C=1000) lets the SVM memorize noise. The sweet spot is C=10.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0" y="1737360"/>
            <a:ext cx="5303520" cy="44805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7512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Tuned LinearSVC, C=10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7512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78.3%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778240" y="2788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0" y="36118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778240" y="3611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loss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75120" y="4434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778240" y="4434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75120" y="5257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778240" y="5257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(weighted)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/  INTERPRETATION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language distinguishes each role family?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TF-IDF features per class, pulled from the tuned LinearSVC coefficients. This is the interpretable payoff of choosing a linear model — we can read off exactly which words drove each classification.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36576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hypothesis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46888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468880"/>
            <a:ext cx="36576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3154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468880"/>
            <a:ext cx="3657600" cy="73152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75320" y="3154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reporting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powerbi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389120"/>
            <a:ext cx="3657600" cy="7315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publication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phd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theoretical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conference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43891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4389120"/>
            <a:ext cx="3657600" cy="73152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8056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finetune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43891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4389120"/>
            <a:ext cx="36576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statistician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7532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hypothesis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longitudinal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biostatistics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/  UNSUPERVISED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Clustering: six role archetypes emerge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POPULATION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978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the TF-IDF matrix, k=18 then merged to 6 interpretable archetypes using the cluster vocabularies.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PROJECTION  —  PCA → t-SNE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210312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68255" y="386448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82353" y="346417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48788" y="3554738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95864" y="3312018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97606" y="267943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20514" y="410171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06311" y="347931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22307" y="2997521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9301" y="2969738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44790" y="351594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81433" y="364768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73010" y="372585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13763" y="409411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01949" y="3477593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20139" y="299692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88436" y="358945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23258" y="300394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07267" y="3628911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58182" y="350580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95045" y="3207023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68463" y="281092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80941" y="362187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71988" y="352467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73639" y="3732073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83106" y="317397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51571" y="329025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20851" y="2846515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772932" y="278392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89409" y="3464679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35567" y="357098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499015" y="327763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695711" y="305301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55989" y="304194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31260" y="352900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23572" y="3060823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59212" y="372945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533983" y="317632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563079" y="3389591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91176" y="338746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32023" y="320982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433123" y="2727809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88319" y="3820933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16964" y="3478331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74289" y="337385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723412" y="3415955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93691" y="3612787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45903" y="3591033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569572" y="2572757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569761" y="327369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355059" y="319309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265122" y="356172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717669" y="3135377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103212" y="3712248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042257" y="245881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521308" y="2813857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121584" y="2611331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578741" y="3523069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474756" y="3536344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706639" y="2845330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373783" y="2796922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516802" y="2848031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544402" y="280855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938385" y="3071888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664708" y="3886366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621954" y="3486561"/>
            <a:ext cx="73152" cy="73152"/>
          </a:xfrm>
          <a:prstGeom prst="ellipse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483474" y="2995113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585661" y="2861872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106745" y="3027149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905472" y="2672601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706439" y="294935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775574" y="329484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033909" y="280995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811127" y="3115036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9448817" y="3042218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523508" y="2499059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9192618" y="3334522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645406" y="2908846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215113" y="309073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677340" y="2513482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0580843" y="3231271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728389" y="3349326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517289" y="3068448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575286" y="2960191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599576" y="3195702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067030" y="312258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9818437" y="257381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156026" y="3286502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9476242" y="2666205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9825514" y="2762195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9855900" y="301090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9794947" y="2811479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9546714" y="3357263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254235" y="2937441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9143634" y="2779535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9788056" y="2747708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474392" y="2789156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140874" y="2947623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531009" y="3176236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212959" y="3406366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368024" y="2902573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9502646" y="2960359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8874924" y="3380085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0194012" y="3217356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9592435" y="287968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246906" y="3340591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9434015" y="343384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1159652" y="2816195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9985010" y="2727197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9885044" y="308107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9805249" y="2978055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981196" y="2806509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9491382" y="3099559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9528931" y="307504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00873" y="309385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0536767" y="3169069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8944800" y="3344073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0060911" y="3337883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0292699" y="3122590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0729526" y="2600864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9833194" y="3120308"/>
            <a:ext cx="73152" cy="73152"/>
          </a:xfrm>
          <a:prstGeom prst="ellipse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724704" y="414469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872361" y="436276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948813" y="436744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376294" y="449077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368312" y="4368782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456383" y="5166327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7401159" y="438515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7162855" y="469263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991590" y="505098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7346333" y="517527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7253011" y="4512877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7445263" y="514739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7533555" y="440512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7134684" y="5078568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7507063" y="464099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7147673" y="472818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7832581" y="486694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7312023" y="429217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7214583" y="4011192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7542723" y="4717919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7930099" y="4242098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7630197" y="433022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7756862" y="454097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7717577" y="4931945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7845590" y="494933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7227502" y="422409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7720702" y="4485332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7643005" y="4639088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7347136" y="387715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6945826" y="504724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7532269" y="417402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6862177" y="4879325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316308" y="457876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7389148" y="4025117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8045858" y="5186557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7630538" y="465022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7539361" y="495532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7924728" y="5257247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7533988" y="4589763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901028" y="408991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7767555" y="4333276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7449249" y="4271559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7530343" y="4827611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213945" y="459135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8465643" y="5012605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7025311" y="5003450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587816" y="449509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7657108" y="4894709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208585" y="4786504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610102" y="4843257"/>
            <a:ext cx="73152" cy="73152"/>
          </a:xfrm>
          <a:prstGeom prst="ellipse">
            <a:avLst/>
          </a:prstGeom>
          <a:solidFill>
            <a:srgbClr val="E5A50A">
              <a:alpha val="75000"/>
            </a:srgbClr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8866598" y="4322625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9846548" y="4899176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8788091" y="4260666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8653740" y="4619756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8997342" y="4356159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9229004" y="4766040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9499011" y="4240041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9363810" y="4255990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9300935" y="4889158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9662156" y="4382429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9333064" y="4177934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9417613" y="4514005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10153004" y="4774942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9827318" y="4562109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8998971" y="4678696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9024865" y="4447928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9114239" y="4215778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9107030" y="4717076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9828232" y="4669601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8774872" y="5092087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9869359" y="4585902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8948152" y="4649062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9544487" y="5025417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896424" y="4550003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9188256" y="4672023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8452778" y="4392986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8220511" y="4799374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9820807" y="4812408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9344389" y="4560628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9504401" y="4655103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9674898" y="4316326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8847990" y="5190311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8753005" y="4482778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0024014" y="4856035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9141290" y="4749011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8407456" y="4818503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9999453" y="4793381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9263146" y="4883458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014899" y="4576957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9447523" y="4767405"/>
            <a:ext cx="73152" cy="73152"/>
          </a:xfrm>
          <a:prstGeom prst="ellipse">
            <a:avLst/>
          </a:prstGeom>
          <a:solidFill>
            <a:srgbClr val="0A1F44">
              <a:alpha val="75000"/>
            </a:srgbClr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050487" y="4168199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0201909" y="4761679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10351163" y="3552270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0431691" y="4203937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0198305" y="3731898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0407729" y="4480985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10669935" y="4039048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1213709" y="4446862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11150748" y="4485521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10198455" y="4203577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10782757" y="4034851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10072814" y="4275378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10353113" y="4473359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10220214" y="3960351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10360611" y="3868509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10663282" y="3899629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10113634" y="4885835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10988056" y="4427394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10385220" y="4304454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9993126" y="4134335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10872211" y="4305631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10593693" y="4236209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0325647" y="4191390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10776663" y="4045967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10312920" y="3789394"/>
            <a:ext cx="73152" cy="73152"/>
          </a:xfrm>
          <a:prstGeom prst="ellipse">
            <a:avLst/>
          </a:prstGeom>
          <a:solidFill>
            <a:srgbClr val="9EB3C2">
              <a:alpha val="75000"/>
            </a:srgbClr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8357106" y="4227393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8358751" y="3916169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8593345" y="3446239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557736" y="4243620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8076312" y="3571600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8252093" y="4477716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8881102" y="3990117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8356218" y="4054444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829268" y="3858370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8710486" y="3975562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8871623" y="4245759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8642802" y="3958211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8336944" y="3853246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582246" y="4108476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761227" y="3728536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8728167" y="3965175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8718886" y="3857654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8634462" y="3720095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179757" y="3461146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291083" y="3714444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8609293" y="4168561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9006587" y="3471460"/>
            <a:ext cx="73152" cy="73152"/>
          </a:xfrm>
          <a:prstGeom prst="ellipse">
            <a:avLst/>
          </a:prstGeom>
          <a:solidFill>
            <a:srgbClr val="F96167">
              <a:alpha val="7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6" name="Text 263"/>
          <p:cNvSpPr/>
          <p:nvPr/>
        </p:nvSpPr>
        <p:spPr>
          <a:xfrm>
            <a:off x="6400800" y="58978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= one posting, projected to 2D via PCA→t-SNE. Six color bands roughly correspond to the six merged archetypes. Local neighborhoods are faithful; global distances are not.</a:t>
            </a:r>
            <a:endParaRPr lang="en-US" sz="1000" dirty="0"/>
          </a:p>
        </p:txBody>
      </p:sp>
      <p:sp>
        <p:nvSpPr>
          <p:cNvPr id="267" name="Text 26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268" name="Text 26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/  TOPIC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NMF surfaces interpretable latent themes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Matrix Factorization decomposes the TF-IDF matrix into document-topic and topic-word matrices. With 18 components, several topics align cleanly with the K-Means clusters above — which is the corroborating signal we want. Four illustrative topics below: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34640"/>
            <a:ext cx="73152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182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Cloud-native ML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971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· kubernetes · docker · airflow · spark · pipeline · sagemaker · terraform · production · monitoring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03320"/>
            <a:ext cx="73152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050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/ PhD research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840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publication · conference · peer · novel · contribution · literature · phd · postdoc · grant · theoretical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572000"/>
            <a:ext cx="73152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 / reporting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4709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· tableau · powerbi · sql · kpi · reporting · stakeholder · excel · metric · visualization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440680"/>
            <a:ext cx="73152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788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analytics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5577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 · patient · ehr · hipaa · biostatistics · sas · longitudinal · outcome · trial · epidemiology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findings that actually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A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Scientist / Engineer / Analyst trichotomy is real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7889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vocabulary profiles — research verbs, infrastructure nouns, reporting tools. They map cleanly to hiring intent, even when titles muddle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51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A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4251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boundaries are porous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50749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"pipeline" is a top-10 feature for both Scientist and Engineer. "regression" shows up in both Scientist and Statistician. The overlap is where hiring confusion comes from — and where senior candidates with crossover skills live.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A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69480" y="1965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 is a distinct archetype — not just "engineer who does ML"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69480" y="27889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cloud-native ML platform topic (kubernetes, airflow, sagemaker) is far enough from both Engineer and Scientist to deserve its own title. The industry hasn't caught up to the vocabulary yet.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51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A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4251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analytics is its own universe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50749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Clinical, ehr, biostatistics, longitudinal — almost no vocabulary overlap with the main three archetypes. Healthcare data science is effectively a separate labor market.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not conclude from this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5577840" cy="73152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bias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postings that made it onto Indeed. Hiring that happens via referral, internal mobility, or specialized networks is invisible here — and that's a large share of senior data science roles.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737360"/>
            <a:ext cx="5577840" cy="73152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 in time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scrape is a moment. Vocabulary shifts fast: "transformer" meant something different in 2021 than it does now, and the next hot framework hasn't been named yet.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77640"/>
            <a:ext cx="5577840" cy="73152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Bag-of-words ceiling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discards word order. A sentence-transformer embedding would almost certainly move the Jaccard ceiling several points higher and produce semantically meaningful similarity, not just surface-term overlap.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977640"/>
            <a:ext cx="5577840" cy="73152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noise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Employer-written titles are inconsistent. Some of the "errors" the model makes are actually the model being more consistent than the humans who wrote the titles.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GARRETH CLINE  •  HACKING THE DATA SCIENCE RESUME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548640" cy="45720"/>
          </a:xfrm>
          <a:prstGeom prst="rect">
            <a:avLst/>
          </a:prstGeom>
          <a:solidFill>
            <a:srgbClr val="E5A50A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5A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REBUILT THIS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changes, no arguments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3657600" cy="3017520"/>
          </a:xfrm>
          <a:prstGeom prst="rect">
            <a:avLst/>
          </a:prstGeom>
          <a:solidFill>
            <a:srgbClr val="0F2E5C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A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Sentence-transformer embeddings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all-MiniLM-L6-v2 or similar. The Jaccard ceiling moves up a few points and the similarity structure becomes semantic, not lexical.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926080"/>
            <a:ext cx="3657600" cy="3017520"/>
          </a:xfrm>
          <a:prstGeom prst="rect">
            <a:avLst/>
          </a:prstGeom>
          <a:solidFill>
            <a:srgbClr val="0F2E5C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A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HDBSCAN, not K-Means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46177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forces a choice of k and assumes spherical clusters. HDBSCAN does neither, handles density variation, and labels noise points honestly.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926080"/>
            <a:ext cx="3657600" cy="3017520"/>
          </a:xfrm>
          <a:prstGeom prst="rect">
            <a:avLst/>
          </a:prstGeom>
          <a:solidFill>
            <a:srgbClr val="0F2E5C"/>
          </a:solidFill>
          <a:ln w="12700">
            <a:solidFill>
              <a:srgbClr val="E5A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A5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41248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 with salary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46177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against Levels.fyi or Glassdoor. The richer feature space enables a regression problem alongside the classification problem — and the insight space expands considerably.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github.com/garrethcline   •   linkedin.com/in/garreth-cline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Hacking the Data Science Resume</dc:title>
  <dc:subject>Metis Data Science Bootcamp Capstone (rebuild)</dc:subject>
  <dc:creator>Garreth Cline</dc:creator>
  <cp:lastModifiedBy>Garreth Cline</cp:lastModifiedBy>
  <cp:revision>1</cp:revision>
  <dcterms:created xsi:type="dcterms:W3CDTF">2026-04-22T13:32:38Z</dcterms:created>
  <dcterms:modified xsi:type="dcterms:W3CDTF">2026-04-22T13:32:38Z</dcterms:modified>
</cp:coreProperties>
</file>